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54.xml" ContentType="application/vnd.openxmlformats-officedocument.presentationml.slide+xml"/>
  <Override PartName="/ppt/slides/slide11.xml" ContentType="application/vnd.openxmlformats-officedocument.presentationml.slide+xml"/>
  <Override PartName="/ppt/slides/slide33.xml" ContentType="application/vnd.openxmlformats-officedocument.presentationml.slide+xml"/>
  <Override PartName="/ppt/slides/slide55.xml" ContentType="application/vnd.openxmlformats-officedocument.presentationml.slide+xml"/>
  <Override PartName="/ppt/slides/slide12.xml" ContentType="application/vnd.openxmlformats-officedocument.presentationml.slide+xml"/>
  <Override PartName="/ppt/slides/slide34.xml" ContentType="application/vnd.openxmlformats-officedocument.presentationml.slide+xml"/>
  <Override PartName="/ppt/slides/slide56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57.xml" ContentType="application/vnd.openxmlformats-officedocument.presentationml.slide+xml"/>
  <Override PartName="/ppt/slides/slide14.xml" ContentType="application/vnd.openxmlformats-officedocument.presentationml.slide+xml"/>
  <Override PartName="/ppt/slides/slide36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37.xml" ContentType="application/vnd.openxmlformats-officedocument.presentationml.slide+xml"/>
  <Override PartName="/ppt/slides/slide59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7.xml" ContentType="application/vnd.openxmlformats-officedocument.presentationml.slide+xml"/>
  <Override PartName="/ppt/slides/slide3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2.xml" ContentType="application/vnd.openxmlformats-officedocument.presentationml.slide+xml"/>
  <Override PartName="/ppt/slides/slide64.xml" ContentType="application/vnd.openxmlformats-officedocument.presentationml.slide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22.xml" ContentType="application/vnd.openxmlformats-officedocument.presentationml.slide+xml"/>
  <Override PartName="/ppt/slides/slide44.xml" ContentType="application/vnd.openxmlformats-officedocument.presentationml.slide+xml"/>
  <Override PartName="/ppt/slides/slide23.xml" ContentType="application/vnd.openxmlformats-officedocument.presentationml.slide+xml"/>
  <Override PartName="/ppt/slides/slide45.xml" ContentType="application/vnd.openxmlformats-officedocument.presentationml.slide+xml"/>
  <Override PartName="/ppt/slides/slide24.xml" ContentType="application/vnd.openxmlformats-officedocument.presentationml.slide+xml"/>
  <Override PartName="/ppt/slides/slide46.xml" ContentType="application/vnd.openxmlformats-officedocument.presentationml.slide+xml"/>
  <Override PartName="/ppt/slides/slide25.xml" ContentType="application/vnd.openxmlformats-officedocument.presentationml.slide+xml"/>
  <Override PartName="/ppt/slides/slide47.xml" ContentType="application/vnd.openxmlformats-officedocument.presentationml.slide+xml"/>
  <Override PartName="/ppt/slides/slide26.xml" ContentType="application/vnd.openxmlformats-officedocument.presentationml.slide+xml"/>
  <Override PartName="/ppt/slides/slide48.xml" ContentType="application/vnd.openxmlformats-officedocument.presentationml.slide+xml"/>
  <Override PartName="/ppt/slides/slide27.xml" ContentType="application/vnd.openxmlformats-officedocument.presentationml.slide+xml"/>
  <Override PartName="/ppt/slides/slide49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52.xml" ContentType="application/vnd.openxmlformats-officedocument.presentationml.slide+xml"/>
  <Override PartName="/ppt/slides/slide31.xml" ContentType="application/vnd.openxmlformats-officedocument.presentationml.slide+xml"/>
  <Override PartName="/ppt/slides/slide53.xml" ContentType="application/vnd.openxmlformats-officedocument.presentationml.slide+xml"/>
  <Override PartName="/ppt/slides/slide40.xml" ContentType="application/vnd.openxmlformats-officedocument.presentationml.slide+xml"/>
  <Override PartName="/ppt/slides/slide62.xml" ContentType="application/vnd.openxmlformats-officedocument.presentationml.slide+xml"/>
  <Override PartName="/ppt/slides/slide41.xml" ContentType="application/vnd.openxmlformats-officedocument.presentationml.slide+xml"/>
  <Override PartName="/ppt/slides/slide63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54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55.xml.rels" ContentType="application/vnd.openxmlformats-package.relationships+xml"/>
  <Override PartName="/ppt/slides/_rels/slide33.xml.rels" ContentType="application/vnd.openxmlformats-package.relationships+xml"/>
  <Override PartName="/ppt/slides/_rels/slide11.xml.rels" ContentType="application/vnd.openxmlformats-package.relationships+xml"/>
  <Override PartName="/ppt/slides/_rels/slide56.xml.rels" ContentType="application/vnd.openxmlformats-package.relationships+xml"/>
  <Override PartName="/ppt/slides/_rels/slide34.xml.rels" ContentType="application/vnd.openxmlformats-package.relationships+xml"/>
  <Override PartName="/ppt/slides/_rels/slide12.xml.rels" ContentType="application/vnd.openxmlformats-package.relationships+xml"/>
  <Override PartName="/ppt/slides/_rels/slide57.xml.rels" ContentType="application/vnd.openxmlformats-package.relationships+xml"/>
  <Override PartName="/ppt/slides/_rels/slide35.xml.rels" ContentType="application/vnd.openxmlformats-package.relationships+xml"/>
  <Override PartName="/ppt/slides/_rels/slide13.xml.rels" ContentType="application/vnd.openxmlformats-package.relationships+xml"/>
  <Override PartName="/ppt/slides/_rels/slide58.xml.rels" ContentType="application/vnd.openxmlformats-package.relationships+xml"/>
  <Override PartName="/ppt/slides/_rels/slide36.xml.rels" ContentType="application/vnd.openxmlformats-package.relationships+xml"/>
  <Override PartName="/ppt/slides/_rels/slide14.xml.rels" ContentType="application/vnd.openxmlformats-package.relationships+xml"/>
  <Override PartName="/ppt/slides/_rels/slide59.xml.rels" ContentType="application/vnd.openxmlformats-package.relationships+xml"/>
  <Override PartName="/ppt/slides/_rels/slide37.xml.rels" ContentType="application/vnd.openxmlformats-package.relationships+xml"/>
  <Override PartName="/ppt/slides/_rels/slide15.xml.rels" ContentType="application/vnd.openxmlformats-package.relationships+xml"/>
  <Override PartName="/ppt/slides/_rels/slide38.xml.rels" ContentType="application/vnd.openxmlformats-package.relationships+xml"/>
  <Override PartName="/ppt/slides/_rels/slide16.xml.rels" ContentType="application/vnd.openxmlformats-package.relationships+xml"/>
  <Override PartName="/ppt/slides/_rels/slide39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64.xml.rels" ContentType="application/vnd.openxmlformats-package.relationships+xml"/>
  <Override PartName="/ppt/slides/_rels/slide42.xml.rels" ContentType="application/vnd.openxmlformats-package.relationships+xml"/>
  <Override PartName="/ppt/slides/_rels/slide20.xml.rels" ContentType="application/vnd.openxmlformats-package.relationships+xml"/>
  <Override PartName="/ppt/slides/_rels/slide43.xml.rels" ContentType="application/vnd.openxmlformats-package.relationships+xml"/>
  <Override PartName="/ppt/slides/_rels/slide21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45.xml.rels" ContentType="application/vnd.openxmlformats-package.relationships+xml"/>
  <Override PartName="/ppt/slides/_rels/slide23.xml.rels" ContentType="application/vnd.openxmlformats-package.relationships+xml"/>
  <Override PartName="/ppt/slides/_rels/slide46.xml.rels" ContentType="application/vnd.openxmlformats-package.relationships+xml"/>
  <Override PartName="/ppt/slides/_rels/slide24.xml.rels" ContentType="application/vnd.openxmlformats-package.relationships+xml"/>
  <Override PartName="/ppt/slides/_rels/slide47.xml.rels" ContentType="application/vnd.openxmlformats-package.relationships+xml"/>
  <Override PartName="/ppt/slides/_rels/slide25.xml.rels" ContentType="application/vnd.openxmlformats-package.relationships+xml"/>
  <Override PartName="/ppt/slides/_rels/slide48.xml.rels" ContentType="application/vnd.openxmlformats-package.relationships+xml"/>
  <Override PartName="/ppt/slides/_rels/slide26.xml.rels" ContentType="application/vnd.openxmlformats-package.relationships+xml"/>
  <Override PartName="/ppt/slides/_rels/slide4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52.xml.rels" ContentType="application/vnd.openxmlformats-package.relationships+xml"/>
  <Override PartName="/ppt/slides/_rels/slide30.xml.rels" ContentType="application/vnd.openxmlformats-package.relationships+xml"/>
  <Override PartName="/ppt/slides/_rels/slide53.xml.rels" ContentType="application/vnd.openxmlformats-package.relationships+xml"/>
  <Override PartName="/ppt/slides/_rels/slide31.xml.rels" ContentType="application/vnd.openxmlformats-package.relationships+xml"/>
  <Override PartName="/ppt/slides/_rels/slide62.xml.rels" ContentType="application/vnd.openxmlformats-package.relationships+xml"/>
  <Override PartName="/ppt/slides/_rels/slide40.xml.rels" ContentType="application/vnd.openxmlformats-package.relationships+xml"/>
  <Override PartName="/ppt/slides/_rels/slide63.xml.rels" ContentType="application/vnd.openxmlformats-package.relationships+xml"/>
  <Override PartName="/ppt/slides/_rels/slide41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06A067-B4A2-47B9-B20C-B5AFC842F4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D14E28-55C8-428D-A722-845E743583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7365A9-1C74-4BCF-92F6-0122690B5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FEDFC8-7658-4860-8EBE-49CD5E2AE7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CE6501-8083-4206-B664-E376EC8981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7A45EE-8FAD-4690-8935-3BFE4A184C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CEA66E-8614-4714-A2C2-C9C5ADD18F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0E4251-304F-4690-931E-C1B40ED418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4EB29E-038B-48A8-AFFE-6D67C0EA4B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AD2CAE-FF1D-4EEE-AF4F-67A424532E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25FDCA-B107-4767-8A4C-F21AD1C367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4708FC-38DE-4EA2-BF19-D8BED03B2D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F06C8D-1EE7-4A4E-8247-938F9C38BB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0"/>
            <a:ext cx="12189960" cy="19944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3" name="Picture 3" descr="logo-blanc.png"/>
          <p:cNvPicPr/>
          <p:nvPr/>
        </p:nvPicPr>
        <p:blipFill>
          <a:blip r:embed="rId1"/>
          <a:stretch/>
        </p:blipFill>
        <p:spPr>
          <a:xfrm>
            <a:off x="822960" y="868680"/>
            <a:ext cx="2832840" cy="63324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822960" y="2468880"/>
            <a:ext cx="100566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c9c5e0"/>
                </a:solidFill>
                <a:latin typeface="Poppins"/>
              </a:rPr>
              <a:t>LOT 4 — DÉVELOPPEMENT LOGICIEL  ·  RÉF. 4-057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86240" y="2880360"/>
            <a:ext cx="1060524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6200" spc="-1" strike="noStrike">
                <a:solidFill>
                  <a:srgbClr val="ffffff"/>
                </a:solidFill>
                <a:latin typeface="Poppins"/>
              </a:rPr>
              <a:t>Node.js</a:t>
            </a:r>
            <a:endParaRPr b="0" lang="fr-FR" sz="6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822960" y="4069080"/>
            <a:ext cx="102394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800" spc="-1" strike="noStrike">
                <a:solidFill>
                  <a:srgbClr val="d7d4ea"/>
                </a:solidFill>
                <a:latin typeface="Poppins"/>
              </a:rPr>
              <a:t>Concevoir des applications web performantes : asynchrone, API REST, base relationnelle.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822960" y="5139000"/>
            <a:ext cx="144360" cy="4554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1060560" y="5120640"/>
            <a:ext cx="100566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Poppins"/>
              </a:rPr>
              <a:t>4 jours  ·  Juin 2026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822960" y="6263640"/>
            <a:ext cx="100566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a9a4cb"/>
                </a:solidFill>
                <a:latin typeface="Poppins"/>
              </a:rPr>
              <a:t>Ascent Formation  ·  formateur : G. Ganster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PARCOURS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Programme — 4 jours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ounded Rectangle 5"/>
          <p:cNvSpPr/>
          <p:nvPr/>
        </p:nvSpPr>
        <p:spPr>
          <a:xfrm>
            <a:off x="777240" y="2011680"/>
            <a:ext cx="2540160" cy="301572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Rounded Rectangle 6"/>
          <p:cNvSpPr/>
          <p:nvPr/>
        </p:nvSpPr>
        <p:spPr>
          <a:xfrm>
            <a:off x="777240" y="2011680"/>
            <a:ext cx="2540160" cy="6382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777240" y="2212200"/>
            <a:ext cx="2540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Poppins"/>
              </a:rPr>
              <a:t>JOUR 1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960120" y="2788920"/>
            <a:ext cx="21927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Poppins"/>
              </a:rPr>
              <a:t>Node.js &amp; async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960120" y="3474720"/>
            <a:ext cx="22111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e9e7f3"/>
                </a:solidFill>
                <a:latin typeface="Poppins"/>
              </a:rPr>
              <a:t>ES6 / asynchrone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e9e7f3"/>
                </a:solidFill>
                <a:latin typeface="Poppins"/>
              </a:rPr>
              <a:t>HTTP natif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e9e7f3"/>
                </a:solidFill>
                <a:latin typeface="Poppins"/>
              </a:rPr>
              <a:t>fil rouge : init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ounded Rectangle 10"/>
          <p:cNvSpPr/>
          <p:nvPr/>
        </p:nvSpPr>
        <p:spPr>
          <a:xfrm>
            <a:off x="3538800" y="2011680"/>
            <a:ext cx="2540160" cy="301572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Rounded Rectangle 11"/>
          <p:cNvSpPr/>
          <p:nvPr/>
        </p:nvSpPr>
        <p:spPr>
          <a:xfrm>
            <a:off x="3538800" y="2011680"/>
            <a:ext cx="2540160" cy="63828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3538800" y="2212200"/>
            <a:ext cx="2540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Poppins"/>
              </a:rPr>
              <a:t>JOUR 2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3721680" y="2788920"/>
            <a:ext cx="21927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Express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3721680" y="3474720"/>
            <a:ext cx="22111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routes &amp; middlewares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auth bcrypt + JWT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upload Multer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15"/>
          <p:cNvSpPr/>
          <p:nvPr/>
        </p:nvSpPr>
        <p:spPr>
          <a:xfrm>
            <a:off x="6300360" y="2011680"/>
            <a:ext cx="2540160" cy="301572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ounded Rectangle 16"/>
          <p:cNvSpPr/>
          <p:nvPr/>
        </p:nvSpPr>
        <p:spPr>
          <a:xfrm>
            <a:off x="6300360" y="2011680"/>
            <a:ext cx="2540160" cy="63828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6300360" y="2212200"/>
            <a:ext cx="2540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Poppins"/>
              </a:rPr>
              <a:t>JOUR 3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6483240" y="2788920"/>
            <a:ext cx="21927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PostgreSQL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9"/>
          <p:cNvSpPr/>
          <p:nvPr/>
        </p:nvSpPr>
        <p:spPr>
          <a:xfrm>
            <a:off x="6483240" y="3474720"/>
            <a:ext cx="22111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Prisma / CRUD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relations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validation Zod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20"/>
          <p:cNvSpPr/>
          <p:nvPr/>
        </p:nvSpPr>
        <p:spPr>
          <a:xfrm>
            <a:off x="9061560" y="2011680"/>
            <a:ext cx="2540160" cy="301572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21"/>
          <p:cNvSpPr/>
          <p:nvPr/>
        </p:nvSpPr>
        <p:spPr>
          <a:xfrm>
            <a:off x="9061560" y="2011680"/>
            <a:ext cx="2540160" cy="63828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9061560" y="2212200"/>
            <a:ext cx="2540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Poppins"/>
              </a:rPr>
              <a:t>JOUR 4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3"/>
          <p:cNvSpPr/>
          <p:nvPr/>
        </p:nvSpPr>
        <p:spPr>
          <a:xfrm>
            <a:off x="9244440" y="2788920"/>
            <a:ext cx="21927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Production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4"/>
          <p:cNvSpPr/>
          <p:nvPr/>
        </p:nvSpPr>
        <p:spPr>
          <a:xfrm>
            <a:off x="9244440" y="3474720"/>
            <a:ext cx="22111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OpenAPI / Swagger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Déploiement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050" spc="-1" strike="noStrike">
                <a:solidFill>
                  <a:srgbClr val="221c4a"/>
                </a:solidFill>
                <a:latin typeface="Poppins"/>
              </a:rPr>
              <a:t>durcissement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5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seul projet fil rouge (API de gestion de tâches) construit du Jour 1 au Jour 4.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26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6" name="Picture 27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7" name="TextBox 28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9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0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822960" y="1828800"/>
            <a:ext cx="144360" cy="17355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1097280" y="1828800"/>
            <a:ext cx="365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e74b56"/>
                </a:solidFill>
                <a:latin typeface="Poppins"/>
              </a:rPr>
              <a:t>JOUR 1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1060560" y="2194560"/>
            <a:ext cx="103309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Poppins"/>
              </a:rPr>
              <a:t>Node.js, ES6 &amp; asynchrone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097280" y="3611880"/>
            <a:ext cx="98737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cbc7e2"/>
                </a:solidFill>
                <a:latin typeface="Poppins"/>
              </a:rPr>
              <a:t>Comprendre le runtime, (re)maîtriser JavaScript moderne, premier serveur.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6" descr="logo-blanc.png"/>
          <p:cNvPicPr/>
          <p:nvPr/>
        </p:nvPicPr>
        <p:blipFill>
          <a:blip r:embed="rId1"/>
          <a:stretch/>
        </p:blipFill>
        <p:spPr>
          <a:xfrm>
            <a:off x="822960" y="6355080"/>
            <a:ext cx="1369800" cy="305640"/>
          </a:xfrm>
          <a:prstGeom prst="rect">
            <a:avLst/>
          </a:prstGeom>
          <a:ln w="0">
            <a:noFill/>
          </a:ln>
        </p:spPr>
      </p:pic>
      <p:sp>
        <p:nvSpPr>
          <p:cNvPr id="86" name="TextBox 7"/>
          <p:cNvSpPr/>
          <p:nvPr/>
        </p:nvSpPr>
        <p:spPr>
          <a:xfrm>
            <a:off x="10241280" y="6382440"/>
            <a:ext cx="1461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a9a4cb"/>
                </a:solidFill>
                <a:latin typeface="Poppins"/>
              </a:rPr>
              <a:t>04 / 57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LE RUNTIME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Qu'est-ce que Node.js ?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1005840" y="2011680"/>
            <a:ext cx="301572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005840" y="2352600"/>
            <a:ext cx="30157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Votre code JS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005840" y="2578680"/>
            <a:ext cx="30157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app.js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8"/>
          <p:cNvSpPr/>
          <p:nvPr/>
        </p:nvSpPr>
        <p:spPr>
          <a:xfrm>
            <a:off x="1005840" y="3840480"/>
            <a:ext cx="301572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1005840" y="4181400"/>
            <a:ext cx="30157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V8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1005840" y="4407480"/>
            <a:ext cx="30157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c9c5e0"/>
                </a:solidFill>
                <a:latin typeface="Poppins"/>
              </a:rPr>
              <a:t>moteur JavaScript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4754880" y="3840480"/>
            <a:ext cx="301572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4754880" y="4181400"/>
            <a:ext cx="30157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libuv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4754880" y="4407480"/>
            <a:ext cx="3015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I/O asynchrone + thread pool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14"/>
          <p:cNvSpPr/>
          <p:nvPr/>
        </p:nvSpPr>
        <p:spPr>
          <a:xfrm>
            <a:off x="8503920" y="2926080"/>
            <a:ext cx="2741400" cy="20098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8503920" y="3724200"/>
            <a:ext cx="2741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Système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8503920" y="3950280"/>
            <a:ext cx="2741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fichiers · réseau · timers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Connector 17"/>
          <p:cNvCxnSpPr/>
          <p:nvPr/>
        </p:nvCxnSpPr>
        <p:spPr>
          <a:xfrm>
            <a:off x="2514600" y="3108960"/>
            <a:ext cx="1800" cy="73332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104" name="Connector 18"/>
          <p:cNvCxnSpPr/>
          <p:nvPr/>
        </p:nvCxnSpPr>
        <p:spPr>
          <a:xfrm>
            <a:off x="4023360" y="4389120"/>
            <a:ext cx="7333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105" name="Connector 19"/>
          <p:cNvCxnSpPr/>
          <p:nvPr/>
        </p:nvCxnSpPr>
        <p:spPr>
          <a:xfrm flipV="1">
            <a:off x="7772400" y="4023360"/>
            <a:ext cx="733320" cy="36756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06" name="TextBox 20"/>
          <p:cNvSpPr/>
          <p:nvPr/>
        </p:nvSpPr>
        <p:spPr>
          <a:xfrm>
            <a:off x="1005840" y="5212080"/>
            <a:ext cx="67647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seul thread JS, non bloquant : les I/O sont déléguées à libuv.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JavaScript côté serveur : moteur V8 + libuv. Excellent pour les I/O, moins pour le calcul lourd.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22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9" name="Picture 23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10" name="TextBox 24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9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8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LE RUNTIME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9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Ecosytème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1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7" name="Picture 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18" name="TextBox 5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5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1501920" y="1439640"/>
            <a:ext cx="9220320" cy="399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MODÈLE D'EXÉCUTION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L'event loop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5"/>
          <p:cNvSpPr/>
          <p:nvPr/>
        </p:nvSpPr>
        <p:spPr>
          <a:xfrm>
            <a:off x="4320000" y="1440000"/>
            <a:ext cx="3564360" cy="8668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4320000" y="1666800"/>
            <a:ext cx="35643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Call stack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4320000" y="1892520"/>
            <a:ext cx="35643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c9c5e0"/>
                </a:solidFill>
                <a:latin typeface="Poppins"/>
              </a:rPr>
              <a:t>exécution synchrone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8"/>
          <p:cNvSpPr/>
          <p:nvPr/>
        </p:nvSpPr>
        <p:spPr>
          <a:xfrm>
            <a:off x="914400" y="4572000"/>
            <a:ext cx="3564360" cy="8668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914400" y="4798800"/>
            <a:ext cx="35643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Callback queue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914400" y="5024520"/>
            <a:ext cx="35643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callbacks prêts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Oval 11"/>
          <p:cNvSpPr/>
          <p:nvPr/>
        </p:nvSpPr>
        <p:spPr>
          <a:xfrm>
            <a:off x="5185800" y="2700000"/>
            <a:ext cx="2192760" cy="1827000"/>
          </a:xfrm>
          <a:prstGeom prst="ellipse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5220000" y="3395160"/>
            <a:ext cx="219276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Event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Loop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13"/>
          <p:cNvSpPr/>
          <p:nvPr/>
        </p:nvSpPr>
        <p:spPr>
          <a:xfrm>
            <a:off x="8417160" y="4500000"/>
            <a:ext cx="2741400" cy="100404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8417160" y="4795200"/>
            <a:ext cx="2741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Web / C++ APIs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8417160" y="5021280"/>
            <a:ext cx="274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fs, net, timers (libuv)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" name="Connector 16"/>
          <p:cNvCxnSpPr>
            <a:stCxn id="126" idx="-1"/>
            <a:endCxn id="134" idx="0"/>
          </p:cNvCxnSpPr>
          <p:nvPr/>
        </p:nvCxnSpPr>
        <p:spPr>
          <a:xfrm>
            <a:off x="7884360" y="1873440"/>
            <a:ext cx="1903680" cy="262692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138" name="Connector 17"/>
          <p:cNvCxnSpPr>
            <a:stCxn id="134" idx="1"/>
            <a:endCxn id="129" idx="-1"/>
          </p:cNvCxnSpPr>
          <p:nvPr/>
        </p:nvCxnSpPr>
        <p:spPr>
          <a:xfrm flipH="1">
            <a:off x="4478760" y="5001840"/>
            <a:ext cx="3938760" cy="396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139" name="Connector 19"/>
          <p:cNvCxnSpPr>
            <a:stCxn id="129" idx="0"/>
            <a:endCxn id="126" idx="-1"/>
          </p:cNvCxnSpPr>
          <p:nvPr/>
        </p:nvCxnSpPr>
        <p:spPr>
          <a:xfrm flipV="1">
            <a:off x="2696400" y="1873440"/>
            <a:ext cx="1623960" cy="269892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40" name="TextBox 20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seul thread, non bloquant : les opérations longues partent en arrière-plan, leurs callbacks reviennent par la file.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2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2" name="Picture 2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43" name="TextBox 2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RAPPELS ES6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JavaScript moderne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Déclarations &amp; fonctions fléchées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[];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add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push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done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false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Destructuring + spread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done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];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copie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...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],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done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true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Modules ES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readFile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from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'node:fs/promises'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export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function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listTasks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Socle commun avant d'attaquer l'asynchrone.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4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07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07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ASYNCHRONE (1/3)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Callbacks &amp; pattern error-first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fs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from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'node:fs'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Convention Node : (err, data)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readFile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'tasks.json'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'utf8'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console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console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log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parse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Callback hell : imbrication illisible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b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{})));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L'erreur arrive toujours en premier argument.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6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67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08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08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ASYNCHRONE (2/3)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Promises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5"/>
          <p:cNvSpPr/>
          <p:nvPr/>
        </p:nvSpPr>
        <p:spPr>
          <a:xfrm>
            <a:off x="777240" y="1664280"/>
            <a:ext cx="6444720" cy="411300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function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readTasks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fs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promises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readFile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'tasks.json'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'utf8'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then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JSON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parse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))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catch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throw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err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;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6"/>
          <p:cNvSpPr/>
          <p:nvPr/>
        </p:nvSpPr>
        <p:spPr>
          <a:xfrm>
            <a:off x="777240" y="1664280"/>
            <a:ext cx="80640" cy="41130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ounded Rectangle 7"/>
          <p:cNvSpPr/>
          <p:nvPr/>
        </p:nvSpPr>
        <p:spPr>
          <a:xfrm>
            <a:off x="7452360" y="166428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ectangle 8"/>
          <p:cNvSpPr/>
          <p:nvPr/>
        </p:nvSpPr>
        <p:spPr>
          <a:xfrm>
            <a:off x="7452360" y="1664280"/>
            <a:ext cx="108000" cy="122364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7699320" y="181044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pending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7699320" y="217620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en attente du résultat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11"/>
          <p:cNvSpPr/>
          <p:nvPr/>
        </p:nvSpPr>
        <p:spPr>
          <a:xfrm>
            <a:off x="7452360" y="30542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ectangle 12"/>
          <p:cNvSpPr/>
          <p:nvPr/>
        </p:nvSpPr>
        <p:spPr>
          <a:xfrm>
            <a:off x="7452360" y="305424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7699320" y="320040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fulfilled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7699320" y="356616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résolue → .then()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5"/>
          <p:cNvSpPr/>
          <p:nvPr/>
        </p:nvSpPr>
        <p:spPr>
          <a:xfrm>
            <a:off x="7452360" y="44438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tangle 16"/>
          <p:cNvSpPr/>
          <p:nvPr/>
        </p:nvSpPr>
        <p:spPr>
          <a:xfrm>
            <a:off x="7452360" y="4443840"/>
            <a:ext cx="108000" cy="1223640"/>
          </a:xfrm>
          <a:prstGeom prst="rect">
            <a:avLst/>
          </a:prstGeom>
          <a:solidFill>
            <a:srgbClr val="cc2e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7699320" y="459036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rejected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7699320" y="495612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échec → .catch()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Une Promise représente une valeur future ; trois états possibles.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0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91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09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09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ASYNCHRONE (3/3)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async / await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async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function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readTasks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try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data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fs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readFile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'tasks.json'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'utf8'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parse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catch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throw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'Lecture impossible'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Code asynchrone qui se lit comme du synchrone. try/catch pour les erreurs.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2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03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10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10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ÉVÉNEMENTIEL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EventEmitter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import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EventEmitter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from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'node:events'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bus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EventEmitter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bus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'task:created'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console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log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'Nouvelle tâche :'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bus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emit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'task:created'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'Préparer le TP'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pattern publish / subscribe au cœur de Node.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4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15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11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11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7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ectangle 19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4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4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NPM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27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3" name="Picture 4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24" name="TextBox 5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5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5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2"/>
          <a:stretch/>
        </p:blipFill>
        <p:spPr>
          <a:xfrm>
            <a:off x="1080000" y="1474560"/>
            <a:ext cx="10087200" cy="410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3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NPM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3" name="Picture 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34" name="TextBox 45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46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47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7019640" cy="3885480"/>
          </a:xfrm>
          <a:prstGeom prst="rect">
            <a:avLst/>
          </a:prstGeom>
          <a:ln w="0">
            <a:noFill/>
          </a:ln>
        </p:spPr>
      </p:pic>
      <p:pic>
        <p:nvPicPr>
          <p:cNvPr id="238" name="" descr=""/>
          <p:cNvPicPr/>
          <p:nvPr/>
        </p:nvPicPr>
        <p:blipFill>
          <a:blip r:embed="rId3"/>
          <a:stretch/>
        </p:blipFill>
        <p:spPr>
          <a:xfrm>
            <a:off x="5940000" y="979200"/>
            <a:ext cx="5481720" cy="478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23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24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48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49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NPM - nexus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29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4" name="Picture 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45" name="TextBox 5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5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5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2180880" y="1341720"/>
            <a:ext cx="8258400" cy="477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Initialiser le dépôt du projet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Préparer un projet Node propre, versionné, exécutable.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npm init, structure src/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scripts start / dev (nodemon)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modèle de donnée « tâche »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premier démarrage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npm init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npm i express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npm i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D nodemon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"scripts"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"start"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"node src/server.js"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"dev"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"nodemon src/server.js"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3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64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Persistance fichier asynchrone (fs)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2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Lire / écrire les tâches dans un fichier JSON, sans bloquer.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module storage.js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fs.promises read/write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gérer fichier absent (ENOENT)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try/catch sur le parse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fs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'node:fs/promises'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FILE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'./data/tasks.json'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async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function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readTasks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try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raw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fs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readFile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FILE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'utf8'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parse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raw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catch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code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===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'ENOENT'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[];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throw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1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82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13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13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SERVEUR WEB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Module HTTP natif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http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'node:http'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server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http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createServer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method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===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'GET'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&amp;&amp;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url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===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writeHead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200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'Content-Type'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'application/json'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end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stringify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writeHead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404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end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'Not Found'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server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listen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3000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Tout est manuel : method, url, headers, statut. Express va simplifier ça.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3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294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14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14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À CONNAÎTRE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Codes de statut HTTP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ounded Rectangle 5"/>
          <p:cNvSpPr/>
          <p:nvPr/>
        </p:nvSpPr>
        <p:spPr>
          <a:xfrm>
            <a:off x="777240" y="173736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ectangle 6"/>
          <p:cNvSpPr/>
          <p:nvPr/>
        </p:nvSpPr>
        <p:spPr>
          <a:xfrm>
            <a:off x="777240" y="1737360"/>
            <a:ext cx="108000" cy="141552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7"/>
          <p:cNvSpPr/>
          <p:nvPr/>
        </p:nvSpPr>
        <p:spPr>
          <a:xfrm>
            <a:off x="1033200" y="188352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200 OK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8"/>
          <p:cNvSpPr/>
          <p:nvPr/>
        </p:nvSpPr>
        <p:spPr>
          <a:xfrm>
            <a:off x="1033200" y="2267640"/>
            <a:ext cx="2041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Requête réussie (GET, PUT).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ounded Rectangle 9"/>
          <p:cNvSpPr/>
          <p:nvPr/>
        </p:nvSpPr>
        <p:spPr>
          <a:xfrm>
            <a:off x="3579840" y="173736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Rectangle 10"/>
          <p:cNvSpPr/>
          <p:nvPr/>
        </p:nvSpPr>
        <p:spPr>
          <a:xfrm>
            <a:off x="3579840" y="1737360"/>
            <a:ext cx="108000" cy="141552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11"/>
          <p:cNvSpPr/>
          <p:nvPr/>
        </p:nvSpPr>
        <p:spPr>
          <a:xfrm>
            <a:off x="3835800" y="188352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201 Created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12"/>
          <p:cNvSpPr/>
          <p:nvPr/>
        </p:nvSpPr>
        <p:spPr>
          <a:xfrm>
            <a:off x="3835800" y="2267640"/>
            <a:ext cx="20419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Ressource créée (POST).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ounded Rectangle 13"/>
          <p:cNvSpPr/>
          <p:nvPr/>
        </p:nvSpPr>
        <p:spPr>
          <a:xfrm>
            <a:off x="6382440" y="173736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ectangle 14"/>
          <p:cNvSpPr/>
          <p:nvPr/>
        </p:nvSpPr>
        <p:spPr>
          <a:xfrm>
            <a:off x="6382440" y="1737360"/>
            <a:ext cx="108000" cy="141552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15"/>
          <p:cNvSpPr/>
          <p:nvPr/>
        </p:nvSpPr>
        <p:spPr>
          <a:xfrm>
            <a:off x="6638400" y="188352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204 No Content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6"/>
          <p:cNvSpPr/>
          <p:nvPr/>
        </p:nvSpPr>
        <p:spPr>
          <a:xfrm>
            <a:off x="6638400" y="2267640"/>
            <a:ext cx="2041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Succès sans corps (DELETE).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17"/>
          <p:cNvSpPr/>
          <p:nvPr/>
        </p:nvSpPr>
        <p:spPr>
          <a:xfrm>
            <a:off x="9185040" y="173736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18"/>
          <p:cNvSpPr/>
          <p:nvPr/>
        </p:nvSpPr>
        <p:spPr>
          <a:xfrm>
            <a:off x="9185040" y="1737360"/>
            <a:ext cx="108000" cy="141552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9"/>
          <p:cNvSpPr/>
          <p:nvPr/>
        </p:nvSpPr>
        <p:spPr>
          <a:xfrm>
            <a:off x="9441360" y="188352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400 Bad Request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20"/>
          <p:cNvSpPr/>
          <p:nvPr/>
        </p:nvSpPr>
        <p:spPr>
          <a:xfrm>
            <a:off x="9441360" y="2267640"/>
            <a:ext cx="20419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Body invalide — validation.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ounded Rectangle 21"/>
          <p:cNvSpPr/>
          <p:nvPr/>
        </p:nvSpPr>
        <p:spPr>
          <a:xfrm>
            <a:off x="777240" y="342900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Rectangle 22"/>
          <p:cNvSpPr/>
          <p:nvPr/>
        </p:nvSpPr>
        <p:spPr>
          <a:xfrm>
            <a:off x="777240" y="3429000"/>
            <a:ext cx="108000" cy="141552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23"/>
          <p:cNvSpPr/>
          <p:nvPr/>
        </p:nvSpPr>
        <p:spPr>
          <a:xfrm>
            <a:off x="1033200" y="357516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401 Unauthorized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24"/>
          <p:cNvSpPr/>
          <p:nvPr/>
        </p:nvSpPr>
        <p:spPr>
          <a:xfrm>
            <a:off x="1033200" y="3959280"/>
            <a:ext cx="20419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Token manquant / invalide.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ounded Rectangle 25"/>
          <p:cNvSpPr/>
          <p:nvPr/>
        </p:nvSpPr>
        <p:spPr>
          <a:xfrm>
            <a:off x="3579840" y="342900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ectangle 26"/>
          <p:cNvSpPr/>
          <p:nvPr/>
        </p:nvSpPr>
        <p:spPr>
          <a:xfrm>
            <a:off x="3579840" y="3429000"/>
            <a:ext cx="108000" cy="141552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27"/>
          <p:cNvSpPr/>
          <p:nvPr/>
        </p:nvSpPr>
        <p:spPr>
          <a:xfrm>
            <a:off x="3835800" y="357516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403 Forbidden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28"/>
          <p:cNvSpPr/>
          <p:nvPr/>
        </p:nvSpPr>
        <p:spPr>
          <a:xfrm>
            <a:off x="3835800" y="3959280"/>
            <a:ext cx="2041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Authentifié mais pas autorisé.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ounded Rectangle 29"/>
          <p:cNvSpPr/>
          <p:nvPr/>
        </p:nvSpPr>
        <p:spPr>
          <a:xfrm>
            <a:off x="6382440" y="342900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Rectangle 30"/>
          <p:cNvSpPr/>
          <p:nvPr/>
        </p:nvSpPr>
        <p:spPr>
          <a:xfrm>
            <a:off x="6382440" y="3429000"/>
            <a:ext cx="108000" cy="141552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31"/>
          <p:cNvSpPr/>
          <p:nvPr/>
        </p:nvSpPr>
        <p:spPr>
          <a:xfrm>
            <a:off x="6638400" y="357516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404 Not Found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32"/>
          <p:cNvSpPr/>
          <p:nvPr/>
        </p:nvSpPr>
        <p:spPr>
          <a:xfrm>
            <a:off x="6638400" y="3959280"/>
            <a:ext cx="20419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Ressource introuvable.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33"/>
          <p:cNvSpPr/>
          <p:nvPr/>
        </p:nvSpPr>
        <p:spPr>
          <a:xfrm>
            <a:off x="9185040" y="3429000"/>
            <a:ext cx="2499120" cy="1415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Rectangle 34"/>
          <p:cNvSpPr/>
          <p:nvPr/>
        </p:nvSpPr>
        <p:spPr>
          <a:xfrm>
            <a:off x="9185040" y="3429000"/>
            <a:ext cx="108000" cy="1415520"/>
          </a:xfrm>
          <a:prstGeom prst="rect">
            <a:avLst/>
          </a:prstGeom>
          <a:solidFill>
            <a:srgbClr val="cc2e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35"/>
          <p:cNvSpPr/>
          <p:nvPr/>
        </p:nvSpPr>
        <p:spPr>
          <a:xfrm>
            <a:off x="9441360" y="3575160"/>
            <a:ext cx="2041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500 Server Error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36"/>
          <p:cNvSpPr/>
          <p:nvPr/>
        </p:nvSpPr>
        <p:spPr>
          <a:xfrm>
            <a:off x="9441360" y="3959280"/>
            <a:ext cx="20419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Aft>
                <a:spcPts val="201"/>
              </a:spcAft>
            </a:pPr>
            <a:r>
              <a:rPr b="0" lang="en-US" sz="1150" spc="-1" strike="noStrike">
                <a:solidFill>
                  <a:srgbClr val="737373"/>
                </a:solidFill>
                <a:latin typeface="Poppins"/>
              </a:rPr>
              <a:t>Erreur côté serveur.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3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2xx succès · 4xx faute client · 5xx faute serveur.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ectangle 3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5" name="Picture 3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336" name="TextBox 4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4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4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FLUX HTTP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Requête / réponse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5"/>
          <p:cNvSpPr/>
          <p:nvPr/>
        </p:nvSpPr>
        <p:spPr>
          <a:xfrm>
            <a:off x="914400" y="2743200"/>
            <a:ext cx="274140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6"/>
          <p:cNvSpPr/>
          <p:nvPr/>
        </p:nvSpPr>
        <p:spPr>
          <a:xfrm>
            <a:off x="914400" y="3084120"/>
            <a:ext cx="2741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Client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7"/>
          <p:cNvSpPr/>
          <p:nvPr/>
        </p:nvSpPr>
        <p:spPr>
          <a:xfrm>
            <a:off x="914400" y="3310200"/>
            <a:ext cx="2741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navigateur / curl /postman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ounded Rectangle 8"/>
          <p:cNvSpPr/>
          <p:nvPr/>
        </p:nvSpPr>
        <p:spPr>
          <a:xfrm>
            <a:off x="4754880" y="2743200"/>
            <a:ext cx="274140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9"/>
          <p:cNvSpPr/>
          <p:nvPr/>
        </p:nvSpPr>
        <p:spPr>
          <a:xfrm>
            <a:off x="4754880" y="3084120"/>
            <a:ext cx="2741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Serveur HTTP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0"/>
          <p:cNvSpPr/>
          <p:nvPr/>
        </p:nvSpPr>
        <p:spPr>
          <a:xfrm>
            <a:off x="4754880" y="3310200"/>
            <a:ext cx="2741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c9c5e0"/>
                </a:solidFill>
                <a:latin typeface="Poppins"/>
              </a:rPr>
              <a:t>Node.js :3000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ounded Rectangle 11"/>
          <p:cNvSpPr/>
          <p:nvPr/>
        </p:nvSpPr>
        <p:spPr>
          <a:xfrm>
            <a:off x="8595360" y="2743200"/>
            <a:ext cx="274140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12"/>
          <p:cNvSpPr/>
          <p:nvPr/>
        </p:nvSpPr>
        <p:spPr>
          <a:xfrm>
            <a:off x="8595360" y="3084120"/>
            <a:ext cx="2741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Handler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13"/>
          <p:cNvSpPr/>
          <p:nvPr/>
        </p:nvSpPr>
        <p:spPr>
          <a:xfrm>
            <a:off x="8595360" y="3310200"/>
            <a:ext cx="27414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logique + data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2" name="Connector 14"/>
          <p:cNvCxnSpPr/>
          <p:nvPr/>
        </p:nvCxnSpPr>
        <p:spPr>
          <a:xfrm>
            <a:off x="3657600" y="3108960"/>
            <a:ext cx="109908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353" name="TextBox 15"/>
          <p:cNvSpPr/>
          <p:nvPr/>
        </p:nvSpPr>
        <p:spPr>
          <a:xfrm>
            <a:off x="3611880" y="2697480"/>
            <a:ext cx="12783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request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4" name="Connector 16"/>
          <p:cNvCxnSpPr/>
          <p:nvPr/>
        </p:nvCxnSpPr>
        <p:spPr>
          <a:xfrm flipH="1">
            <a:off x="3657600" y="3657600"/>
            <a:ext cx="109908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355" name="TextBox 17"/>
          <p:cNvSpPr/>
          <p:nvPr/>
        </p:nvSpPr>
        <p:spPr>
          <a:xfrm>
            <a:off x="3611880" y="3675960"/>
            <a:ext cx="12783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response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6" name="Connector 18"/>
          <p:cNvCxnSpPr/>
          <p:nvPr/>
        </p:nvCxnSpPr>
        <p:spPr>
          <a:xfrm>
            <a:off x="7497720" y="3291840"/>
            <a:ext cx="10994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357" name="Connector 19"/>
          <p:cNvCxnSpPr/>
          <p:nvPr/>
        </p:nvCxnSpPr>
        <p:spPr>
          <a:xfrm flipH="1">
            <a:off x="7497720" y="3611880"/>
            <a:ext cx="10994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358" name="TextBox 20"/>
          <p:cNvSpPr/>
          <p:nvPr/>
        </p:nvSpPr>
        <p:spPr>
          <a:xfrm>
            <a:off x="914400" y="4663440"/>
            <a:ext cx="100566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req : method, url, headers, body   —   res : status, headers, body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21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serveur reçoit une requête, le handler produit une réponse.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ectangle 22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1" name="Picture 23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362" name="TextBox 24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25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26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Serveur HTTP des tâches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3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Exposer les tâches via un serveur HTTP natif (1ʳᵉ version de l'API).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routage manuel method + url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GET /tasks, GET /tasks/:id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POST /tasks (lire le body)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statuts 200 / 201 / 404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method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===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'POST'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&amp;&amp;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url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===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let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body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'data'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c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body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+=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c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'end'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async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addTask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parse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body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writeHead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201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end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stringify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79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380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17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17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Rectangle 2"/>
          <p:cNvSpPr/>
          <p:nvPr/>
        </p:nvSpPr>
        <p:spPr>
          <a:xfrm>
            <a:off x="822960" y="1828800"/>
            <a:ext cx="144360" cy="17355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3"/>
          <p:cNvSpPr/>
          <p:nvPr/>
        </p:nvSpPr>
        <p:spPr>
          <a:xfrm>
            <a:off x="1097280" y="1828800"/>
            <a:ext cx="365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e74b56"/>
                </a:solidFill>
                <a:latin typeface="Poppins"/>
              </a:rPr>
              <a:t>JOUR 2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4"/>
          <p:cNvSpPr/>
          <p:nvPr/>
        </p:nvSpPr>
        <p:spPr>
          <a:xfrm>
            <a:off x="1060560" y="2194560"/>
            <a:ext cx="103309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Poppins"/>
              </a:rPr>
              <a:t>Développement avec Express.js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5"/>
          <p:cNvSpPr/>
          <p:nvPr/>
        </p:nvSpPr>
        <p:spPr>
          <a:xfrm>
            <a:off x="1097280" y="3611880"/>
            <a:ext cx="98737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cbc7e2"/>
                </a:solidFill>
                <a:latin typeface="Poppins"/>
              </a:rPr>
              <a:t>Routes, middlewares, authentification (bcrypt + JWT) et upload de fichiers.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Picture 6" descr="logo-blanc.png"/>
          <p:cNvPicPr/>
          <p:nvPr/>
        </p:nvPicPr>
        <p:blipFill>
          <a:blip r:embed="rId1"/>
          <a:stretch/>
        </p:blipFill>
        <p:spPr>
          <a:xfrm>
            <a:off x="822960" y="6355080"/>
            <a:ext cx="1369800" cy="305640"/>
          </a:xfrm>
          <a:prstGeom prst="rect">
            <a:avLst/>
          </a:prstGeom>
          <a:ln w="0">
            <a:noFill/>
          </a:ln>
        </p:spPr>
      </p:pic>
      <p:sp>
        <p:nvSpPr>
          <p:cNvPr id="389" name="TextBox 7"/>
          <p:cNvSpPr/>
          <p:nvPr/>
        </p:nvSpPr>
        <p:spPr>
          <a:xfrm>
            <a:off x="10241280" y="6382440"/>
            <a:ext cx="1461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a9a4cb"/>
                </a:solidFill>
                <a:latin typeface="Poppins"/>
              </a:rPr>
              <a:t>18 / 57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39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ectangle 40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69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70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Micro frameworks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ectangle 4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5" name="Picture 10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396" name="TextBox 71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72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73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2"/>
          <a:stretch/>
        </p:blipFill>
        <p:spPr>
          <a:xfrm>
            <a:off x="7178040" y="2520000"/>
            <a:ext cx="4881240" cy="1829880"/>
          </a:xfrm>
          <a:prstGeom prst="rect">
            <a:avLst/>
          </a:prstGeom>
          <a:ln w="0">
            <a:noFill/>
          </a:ln>
        </p:spPr>
      </p:pic>
      <p:pic>
        <p:nvPicPr>
          <p:cNvPr id="400" name="" descr=""/>
          <p:cNvPicPr/>
          <p:nvPr/>
        </p:nvPicPr>
        <p:blipFill>
          <a:blip r:embed="rId3"/>
          <a:stretch/>
        </p:blipFill>
        <p:spPr>
          <a:xfrm>
            <a:off x="-180720" y="2340000"/>
            <a:ext cx="3600000" cy="2321640"/>
          </a:xfrm>
          <a:prstGeom prst="rect">
            <a:avLst/>
          </a:prstGeom>
          <a:ln w="0">
            <a:noFill/>
          </a:ln>
        </p:spPr>
      </p:pic>
      <p:pic>
        <p:nvPicPr>
          <p:cNvPr id="401" name="" descr=""/>
          <p:cNvPicPr/>
          <p:nvPr/>
        </p:nvPicPr>
        <p:blipFill>
          <a:blip r:embed="rId4"/>
          <a:stretch/>
        </p:blipFill>
        <p:spPr>
          <a:xfrm>
            <a:off x="2880000" y="2916000"/>
            <a:ext cx="4428000" cy="134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35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Rectangle 36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64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65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Frameworks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 37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07" name="Picture 8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08" name="TextBox 6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6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6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" descr=""/>
          <p:cNvPicPr/>
          <p:nvPr/>
        </p:nvPicPr>
        <p:blipFill>
          <a:blip r:embed="rId2"/>
          <a:stretch/>
        </p:blipFill>
        <p:spPr>
          <a:xfrm>
            <a:off x="6300000" y="2604240"/>
            <a:ext cx="4319280" cy="1535040"/>
          </a:xfrm>
          <a:prstGeom prst="rect">
            <a:avLst/>
          </a:prstGeom>
          <a:ln w="0">
            <a:noFill/>
          </a:ln>
        </p:spPr>
      </p:pic>
      <p:pic>
        <p:nvPicPr>
          <p:cNvPr id="412" name="" descr=""/>
          <p:cNvPicPr/>
          <p:nvPr/>
        </p:nvPicPr>
        <p:blipFill>
          <a:blip r:embed="rId3"/>
          <a:stretch/>
        </p:blipFill>
        <p:spPr>
          <a:xfrm>
            <a:off x="1620000" y="1906560"/>
            <a:ext cx="3419280" cy="2991600"/>
          </a:xfrm>
          <a:prstGeom prst="rect">
            <a:avLst/>
          </a:prstGeom>
          <a:ln w="0">
            <a:noFill/>
          </a:ln>
        </p:spPr>
      </p:pic>
      <p:pic>
        <p:nvPicPr>
          <p:cNvPr id="413" name="" descr=""/>
          <p:cNvPicPr/>
          <p:nvPr/>
        </p:nvPicPr>
        <p:blipFill>
          <a:blip r:embed="rId4"/>
          <a:stretch/>
        </p:blipFill>
        <p:spPr>
          <a:xfrm>
            <a:off x="4140000" y="4500000"/>
            <a:ext cx="3485160" cy="13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3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Rectangle 3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59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Dépendances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60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Frameworks fullstack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33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19" name="Picture 7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20" name="TextBox 61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62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63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3" name="" descr=""/>
          <p:cNvPicPr/>
          <p:nvPr/>
        </p:nvPicPr>
        <p:blipFill>
          <a:blip r:embed="rId2"/>
          <a:stretch/>
        </p:blipFill>
        <p:spPr>
          <a:xfrm>
            <a:off x="-540000" y="2160000"/>
            <a:ext cx="6747480" cy="2699280"/>
          </a:xfrm>
          <a:prstGeom prst="rect">
            <a:avLst/>
          </a:prstGeom>
          <a:ln w="0">
            <a:noFill/>
          </a:ln>
        </p:spPr>
      </p:pic>
      <p:pic>
        <p:nvPicPr>
          <p:cNvPr id="424" name="" descr=""/>
          <p:cNvPicPr/>
          <p:nvPr/>
        </p:nvPicPr>
        <p:blipFill>
          <a:blip r:embed="rId3"/>
          <a:stretch/>
        </p:blipFill>
        <p:spPr>
          <a:xfrm>
            <a:off x="5400000" y="1159200"/>
            <a:ext cx="6971400" cy="461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POURQUOI EXPRESS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Un serveur minimal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express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'express'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app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express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express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parse le body JSON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listen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3000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console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log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'API on :3000'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Routing, parsing, middlewares : Express enlève la plomberie du HTTP natif.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33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34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19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19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EXPRESS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Routes &amp; paramètres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 list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liste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'/tasks/:id'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getOne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détail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post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create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201 Created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put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'/tasks/:id'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update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delete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'/tasks/:id'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remove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204 No Content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req.params.id  ·  req.query.status  ·  req.body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Une route = méthode + chemin + handler.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5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46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20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20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Rectangle 4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Rectangle 43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74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EXPRESS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75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Router imbriqué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Rounded Rectangle 2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NIVEAU 1 (server.js) — l'application monte un router.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Tout ce qui commence par /api est délégué à apiRouter.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app.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'/api'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apiRouter);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router = express.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Router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Route directement portée par ce router (accessible via GET /api).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router.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(req, res)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res.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({ </a:t>
            </a:r>
            <a:r>
              <a:rPr b="0" lang="en-US" sz="1250" spc="-1" strike="noStrike">
                <a:solidFill>
                  <a:srgbClr val="8be9fd"/>
                </a:solidFill>
                <a:latin typeface="Consolas"/>
              </a:rPr>
              <a:t>niveau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'apiRouter'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</a:t>
            </a:r>
            <a:r>
              <a:rPr b="0" lang="en-US" sz="1250" spc="-1" strike="noStrike">
                <a:solidFill>
                  <a:srgbClr val="8be9fd"/>
                </a:solidFill>
                <a:latin typeface="Consolas"/>
              </a:rPr>
              <a:t>chemin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'/api'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</a:t>
            </a:r>
            <a:r>
              <a:rPr b="0" lang="en-US" sz="1250" spc="-1" strike="noStrike">
                <a:solidFill>
                  <a:srgbClr val="8be9fd"/>
                </a:solidFill>
                <a:latin typeface="Consolas"/>
              </a:rPr>
              <a:t>sousRoutes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: [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'/api/users'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] 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NIVEAU 3 — ce router est monté par apiRouter (sous /users).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router.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'/users'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usersRouter);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Rectangle 44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76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Une route = méthode + chemin + handler.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ectangle 4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57" name="Picture 1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58" name="TextBox 77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78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20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79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20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CŒUR D'EXPRESS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La chaîne de middlewares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ounded Rectangle 5"/>
          <p:cNvSpPr/>
          <p:nvPr/>
        </p:nvSpPr>
        <p:spPr>
          <a:xfrm>
            <a:off x="914400" y="2834640"/>
            <a:ext cx="205560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TextBox 6"/>
          <p:cNvSpPr/>
          <p:nvPr/>
        </p:nvSpPr>
        <p:spPr>
          <a:xfrm>
            <a:off x="914400" y="3191760"/>
            <a:ext cx="2055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221c4a"/>
                </a:solidFill>
                <a:latin typeface="Poppins"/>
              </a:rPr>
              <a:t>logger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7"/>
          <p:cNvSpPr/>
          <p:nvPr/>
        </p:nvSpPr>
        <p:spPr>
          <a:xfrm>
            <a:off x="914400" y="3401640"/>
            <a:ext cx="2055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morgan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8" name="Connector 8"/>
          <p:cNvCxnSpPr/>
          <p:nvPr/>
        </p:nvCxnSpPr>
        <p:spPr>
          <a:xfrm>
            <a:off x="2971800" y="3383280"/>
            <a:ext cx="2761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469" name="Rounded Rectangle 9"/>
          <p:cNvSpPr/>
          <p:nvPr/>
        </p:nvSpPr>
        <p:spPr>
          <a:xfrm>
            <a:off x="3246120" y="2834640"/>
            <a:ext cx="205560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TextBox 10"/>
          <p:cNvSpPr/>
          <p:nvPr/>
        </p:nvSpPr>
        <p:spPr>
          <a:xfrm>
            <a:off x="3246120" y="3191760"/>
            <a:ext cx="2055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221c4a"/>
                </a:solidFill>
                <a:latin typeface="Poppins"/>
              </a:rPr>
              <a:t>express.json()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11"/>
          <p:cNvSpPr/>
          <p:nvPr/>
        </p:nvSpPr>
        <p:spPr>
          <a:xfrm>
            <a:off x="3246120" y="3401640"/>
            <a:ext cx="2055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body → req.body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2" name="Connector 12"/>
          <p:cNvCxnSpPr/>
          <p:nvPr/>
        </p:nvCxnSpPr>
        <p:spPr>
          <a:xfrm>
            <a:off x="5303520" y="3383280"/>
            <a:ext cx="2761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473" name="Rounded Rectangle 13"/>
          <p:cNvSpPr/>
          <p:nvPr/>
        </p:nvSpPr>
        <p:spPr>
          <a:xfrm>
            <a:off x="5577840" y="2834640"/>
            <a:ext cx="205560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TextBox 14"/>
          <p:cNvSpPr/>
          <p:nvPr/>
        </p:nvSpPr>
        <p:spPr>
          <a:xfrm>
            <a:off x="5577840" y="3191760"/>
            <a:ext cx="2055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221c4a"/>
                </a:solidFill>
                <a:latin typeface="Poppins"/>
              </a:rPr>
              <a:t>auth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15"/>
          <p:cNvSpPr/>
          <p:nvPr/>
        </p:nvSpPr>
        <p:spPr>
          <a:xfrm>
            <a:off x="5577840" y="3401640"/>
            <a:ext cx="2055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JWT → 401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6" name="Connector 16"/>
          <p:cNvCxnSpPr/>
          <p:nvPr/>
        </p:nvCxnSpPr>
        <p:spPr>
          <a:xfrm>
            <a:off x="7635240" y="3383280"/>
            <a:ext cx="27576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477" name="Rounded Rectangle 17"/>
          <p:cNvSpPr/>
          <p:nvPr/>
        </p:nvSpPr>
        <p:spPr>
          <a:xfrm>
            <a:off x="7909560" y="2834640"/>
            <a:ext cx="205560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18"/>
          <p:cNvSpPr/>
          <p:nvPr/>
        </p:nvSpPr>
        <p:spPr>
          <a:xfrm>
            <a:off x="7909560" y="3191760"/>
            <a:ext cx="2055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</a:rPr>
              <a:t>handler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19"/>
          <p:cNvSpPr/>
          <p:nvPr/>
        </p:nvSpPr>
        <p:spPr>
          <a:xfrm>
            <a:off x="7909560" y="3401640"/>
            <a:ext cx="2055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route /tasks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ounded Rectangle 20"/>
          <p:cNvSpPr/>
          <p:nvPr/>
        </p:nvSpPr>
        <p:spPr>
          <a:xfrm>
            <a:off x="10241280" y="2834640"/>
            <a:ext cx="146124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TextBox 21"/>
          <p:cNvSpPr/>
          <p:nvPr/>
        </p:nvSpPr>
        <p:spPr>
          <a:xfrm>
            <a:off x="10241280" y="3175560"/>
            <a:ext cx="14612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Response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22"/>
          <p:cNvSpPr/>
          <p:nvPr/>
        </p:nvSpPr>
        <p:spPr>
          <a:xfrm>
            <a:off x="10241280" y="34016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JSON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83" name="Connector 23"/>
          <p:cNvCxnSpPr/>
          <p:nvPr/>
        </p:nvCxnSpPr>
        <p:spPr>
          <a:xfrm>
            <a:off x="9966960" y="3383280"/>
            <a:ext cx="2761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484" name="TextBox 24"/>
          <p:cNvSpPr/>
          <p:nvPr/>
        </p:nvSpPr>
        <p:spPr>
          <a:xfrm>
            <a:off x="914400" y="2240280"/>
            <a:ext cx="100566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next() passe la main au middleware suivant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25"/>
          <p:cNvSpPr/>
          <p:nvPr/>
        </p:nvSpPr>
        <p:spPr>
          <a:xfrm>
            <a:off x="914400" y="4297680"/>
            <a:ext cx="100566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Chaque middleware : (req, res, next). Il lit/modifie req &amp; res ou interrompt la chaîne.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 26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87" name="Picture 27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488" name="TextBox 28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29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21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30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21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Migrer le projet vers Express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4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Remplacer le serveur natif par une API REST structurée.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express.json(), morgan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routeur routes/tasks.js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CRUD complet sur /tasks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réponses JSON + statuts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router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'express'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 list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post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 create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'/:id'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getOne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put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'/:id'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update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delete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'/:id'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remove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module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exports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5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06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4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Rectangle 43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TextBox 74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MIDDLEWARE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75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Exemple : un logger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Rounded Rectangle 2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Un middleware = fonction (req, res, next).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Appelé à chaque requête, dans l'ordre de déclaration.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function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logger(req, res, next) 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debut = Date.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now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res.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on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'finish'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()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ms = Date.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now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() - debut;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console.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log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`${req.method} ${req.url} ${res.statusCode} (${ms}ms)`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next(); </a:t>
            </a: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passe la main au middleware suivant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app.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(logger); </a:t>
            </a: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s'applique à toutes les routes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Rectangle 44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TextBox 76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middleware reçoit (req, res, next) et appelle next().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Rectangle 4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7" name="Picture 1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18" name="TextBox 77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78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79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ectangle 4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Rectangle 43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TextBox 74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MIDDLEWARE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75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Exemple : authentification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Rounded Rectangle 2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Authentification ULTRA simpliste (démo, jamais en prod !).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TOKEN = 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'secret123'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function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auth(req, res, next) 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recu = req.</a:t>
            </a:r>
            <a:r>
              <a:rPr b="0" lang="en-US" sz="1250" spc="-1" strike="noStrike">
                <a:solidFill>
                  <a:srgbClr val="8be9fd"/>
                </a:solidFill>
                <a:latin typeface="Consolas"/>
              </a:rPr>
              <a:t>headers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[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'x-api-key'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];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(recu !== TOKEN) 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79c6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res.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d93f9"/>
                </a:solidFill>
                <a:latin typeface="Consolas"/>
              </a:rPr>
              <a:t>401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({ </a:t>
            </a:r>
            <a:r>
              <a:rPr b="0" lang="en-US" sz="1250" spc="-1" strike="noStrike">
                <a:solidFill>
                  <a:srgbClr val="8be9fd"/>
                </a:solidFill>
                <a:latin typeface="Consolas"/>
              </a:rPr>
              <a:t>erreur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'Non autorisé'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next(); </a:t>
            </a: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jeton valide : on continue la chaîne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app.</a:t>
            </a:r>
            <a:r>
              <a:rPr b="0" lang="en-US" sz="1250" spc="-1" strike="noStrike">
                <a:solidFill>
                  <a:srgbClr val="50fa7b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1fa8c"/>
                </a:solidFill>
                <a:latin typeface="Consolas"/>
              </a:rPr>
              <a:t>'/admin'</a:t>
            </a:r>
            <a:r>
              <a:rPr b="0" lang="en-US" sz="1250" spc="-1" strike="noStrike">
                <a:solidFill>
                  <a:srgbClr val="f8f8f2"/>
                </a:solidFill>
                <a:latin typeface="Consolas"/>
              </a:rPr>
              <a:t>, auth); </a:t>
            </a:r>
            <a:r>
              <a:rPr b="0" lang="en-US" sz="1250" spc="-1" strike="noStrike">
                <a:solidFill>
                  <a:srgbClr val="8b93c9"/>
                </a:solidFill>
                <a:latin typeface="Consolas"/>
              </a:rPr>
              <a:t>// protège la zone /admin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Rectangle 44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TextBox 76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next() continue la chaîne ; sinon on répond et on s'arrête.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Rectangle 4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9" name="Picture 1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30" name="TextBox 77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78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79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ROBUSTESSE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Middleware de gestion d'erreurs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4 paramètres =&gt; middleware d'erreur (en dernier)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status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||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500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message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dans un handler :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assign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'Introuvable'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404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Centraliser les erreurs évite de répéter try/catch partout.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41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42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23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23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AUTH (1/2)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Hachage du mot de passe — bcrypt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ounded Rectangle 5"/>
          <p:cNvSpPr/>
          <p:nvPr/>
        </p:nvSpPr>
        <p:spPr>
          <a:xfrm>
            <a:off x="777240" y="1664280"/>
            <a:ext cx="6444720" cy="411300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bcrypt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'bcrypt'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Inscription : on stocke le HASH, jamais le mot de passe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hash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bcrypt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hash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password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10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Connexion : comparaison sécurisée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ok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bcrypt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compare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password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user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hash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(!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ok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401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'Identifiants'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Rectangle 6"/>
          <p:cNvSpPr/>
          <p:nvPr/>
        </p:nvSpPr>
        <p:spPr>
          <a:xfrm>
            <a:off x="777240" y="1664280"/>
            <a:ext cx="80640" cy="41130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Rounded Rectangle 7"/>
          <p:cNvSpPr/>
          <p:nvPr/>
        </p:nvSpPr>
        <p:spPr>
          <a:xfrm>
            <a:off x="7452360" y="166428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2" name="Rectangle 8"/>
          <p:cNvSpPr/>
          <p:nvPr/>
        </p:nvSpPr>
        <p:spPr>
          <a:xfrm>
            <a:off x="7452360" y="166428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3" name="TextBox 9"/>
          <p:cNvSpPr/>
          <p:nvPr/>
        </p:nvSpPr>
        <p:spPr>
          <a:xfrm>
            <a:off x="7699320" y="181044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Jamais en clair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Box 10"/>
          <p:cNvSpPr/>
          <p:nvPr/>
        </p:nvSpPr>
        <p:spPr>
          <a:xfrm>
            <a:off x="7699320" y="217620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le hash est irréversible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Rounded Rectangle 11"/>
          <p:cNvSpPr/>
          <p:nvPr/>
        </p:nvSpPr>
        <p:spPr>
          <a:xfrm>
            <a:off x="7452360" y="30542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6" name="Rectangle 12"/>
          <p:cNvSpPr/>
          <p:nvPr/>
        </p:nvSpPr>
        <p:spPr>
          <a:xfrm>
            <a:off x="7452360" y="305424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7" name="TextBox 13"/>
          <p:cNvSpPr/>
          <p:nvPr/>
        </p:nvSpPr>
        <p:spPr>
          <a:xfrm>
            <a:off x="7699320" y="320040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Sel inclus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Box 14"/>
          <p:cNvSpPr/>
          <p:nvPr/>
        </p:nvSpPr>
        <p:spPr>
          <a:xfrm>
            <a:off x="7699320" y="356616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résiste aux rainbow tables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Rounded Rectangle 15"/>
          <p:cNvSpPr/>
          <p:nvPr/>
        </p:nvSpPr>
        <p:spPr>
          <a:xfrm>
            <a:off x="7452360" y="44438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0" name="Rectangle 16"/>
          <p:cNvSpPr/>
          <p:nvPr/>
        </p:nvSpPr>
        <p:spPr>
          <a:xfrm>
            <a:off x="7452360" y="4443840"/>
            <a:ext cx="108000" cy="122364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TextBox 17"/>
          <p:cNvSpPr/>
          <p:nvPr/>
        </p:nvSpPr>
        <p:spPr>
          <a:xfrm>
            <a:off x="7699320" y="459036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401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Box 18"/>
          <p:cNvSpPr/>
          <p:nvPr/>
        </p:nvSpPr>
        <p:spPr>
          <a:xfrm>
            <a:off x="7699320" y="495612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si échec de connexion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mot de passe ne doit jamais être stocké ni logé en clair.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65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66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24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24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0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AUTH (2/2)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JSON Web Token (JWT)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Rounded Rectangle 5"/>
          <p:cNvSpPr/>
          <p:nvPr/>
        </p:nvSpPr>
        <p:spPr>
          <a:xfrm>
            <a:off x="914400" y="2103120"/>
            <a:ext cx="2924280" cy="91260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TextBox 6"/>
          <p:cNvSpPr/>
          <p:nvPr/>
        </p:nvSpPr>
        <p:spPr>
          <a:xfrm>
            <a:off x="914400" y="2456640"/>
            <a:ext cx="2924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Client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ounded Rectangle 7"/>
          <p:cNvSpPr/>
          <p:nvPr/>
        </p:nvSpPr>
        <p:spPr>
          <a:xfrm>
            <a:off x="8321040" y="2103120"/>
            <a:ext cx="2924280" cy="91260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6" name="TextBox 8"/>
          <p:cNvSpPr/>
          <p:nvPr/>
        </p:nvSpPr>
        <p:spPr>
          <a:xfrm>
            <a:off x="8321040" y="2456640"/>
            <a:ext cx="2924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API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7" name="Connector 9"/>
          <p:cNvCxnSpPr/>
          <p:nvPr/>
        </p:nvCxnSpPr>
        <p:spPr>
          <a:xfrm>
            <a:off x="2377440" y="3017520"/>
            <a:ext cx="1800" cy="2470680"/>
          </a:xfrm>
          <a:prstGeom prst="straightConnector1">
            <a:avLst/>
          </a:prstGeom>
          <a:ln w="16510">
            <a:solidFill>
              <a:srgbClr val="e6e6ec"/>
            </a:solidFill>
            <a:prstDash val="dash"/>
            <a:round/>
          </a:ln>
        </p:spPr>
      </p:cxnSp>
      <p:cxnSp>
        <p:nvCxnSpPr>
          <p:cNvPr id="578" name="Connector 10"/>
          <p:cNvCxnSpPr/>
          <p:nvPr/>
        </p:nvCxnSpPr>
        <p:spPr>
          <a:xfrm>
            <a:off x="9784080" y="3017520"/>
            <a:ext cx="1800" cy="2470680"/>
          </a:xfrm>
          <a:prstGeom prst="straightConnector1">
            <a:avLst/>
          </a:prstGeom>
          <a:ln w="16510">
            <a:solidFill>
              <a:srgbClr val="e6e6ec"/>
            </a:solidFill>
            <a:prstDash val="dash"/>
            <a:round/>
          </a:ln>
        </p:spPr>
      </p:cxnSp>
      <p:sp>
        <p:nvSpPr>
          <p:cNvPr id="579" name="TextBox 11"/>
          <p:cNvSpPr/>
          <p:nvPr/>
        </p:nvSpPr>
        <p:spPr>
          <a:xfrm>
            <a:off x="2377440" y="3447360"/>
            <a:ext cx="7404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POST /auth/login   ·   email + mot de passe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0" name="Connector 12"/>
          <p:cNvCxnSpPr/>
          <p:nvPr/>
        </p:nvCxnSpPr>
        <p:spPr>
          <a:xfrm>
            <a:off x="2377440" y="3748680"/>
            <a:ext cx="7408440" cy="1800"/>
          </a:xfrm>
          <a:prstGeom prst="straightConnector1">
            <a:avLst/>
          </a:prstGeom>
          <a:ln w="22860">
            <a:solidFill>
              <a:srgbClr val="31346d"/>
            </a:solidFill>
            <a:round/>
            <a:tailEnd len="med" type="triangle" w="med"/>
          </a:ln>
        </p:spPr>
      </p:cxnSp>
      <p:sp>
        <p:nvSpPr>
          <p:cNvPr id="581" name="TextBox 13"/>
          <p:cNvSpPr/>
          <p:nvPr/>
        </p:nvSpPr>
        <p:spPr>
          <a:xfrm>
            <a:off x="2377440" y="4041720"/>
            <a:ext cx="7404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2ea043"/>
                </a:solidFill>
                <a:latin typeface="Poppins"/>
              </a:rPr>
              <a:t>200   ·   { token: JWT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2" name="Connector 14"/>
          <p:cNvCxnSpPr/>
          <p:nvPr/>
        </p:nvCxnSpPr>
        <p:spPr>
          <a:xfrm flipH="1">
            <a:off x="2377440" y="4343400"/>
            <a:ext cx="7408440" cy="1800"/>
          </a:xfrm>
          <a:prstGeom prst="straightConnector1">
            <a:avLst/>
          </a:prstGeom>
          <a:ln w="22860">
            <a:solidFill>
              <a:srgbClr val="31346d"/>
            </a:solidFill>
            <a:round/>
            <a:tailEnd len="med" type="triangle" w="med"/>
          </a:ln>
        </p:spPr>
      </p:cxnSp>
      <p:sp>
        <p:nvSpPr>
          <p:cNvPr id="583" name="TextBox 15"/>
          <p:cNvSpPr/>
          <p:nvPr/>
        </p:nvSpPr>
        <p:spPr>
          <a:xfrm>
            <a:off x="2377440" y="4636080"/>
            <a:ext cx="7404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GET /tasks   ·   Authorization: Bearer &lt;JWT&gt;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4" name="Connector 16"/>
          <p:cNvCxnSpPr/>
          <p:nvPr/>
        </p:nvCxnSpPr>
        <p:spPr>
          <a:xfrm>
            <a:off x="2377440" y="4937760"/>
            <a:ext cx="7408440" cy="1800"/>
          </a:xfrm>
          <a:prstGeom prst="straightConnector1">
            <a:avLst/>
          </a:prstGeom>
          <a:ln w="22860">
            <a:solidFill>
              <a:srgbClr val="31346d"/>
            </a:solidFill>
            <a:round/>
            <a:tailEnd len="med" type="triangle" w="med"/>
          </a:ln>
        </p:spPr>
      </p:cxnSp>
      <p:sp>
        <p:nvSpPr>
          <p:cNvPr id="585" name="TextBox 17"/>
          <p:cNvSpPr/>
          <p:nvPr/>
        </p:nvSpPr>
        <p:spPr>
          <a:xfrm>
            <a:off x="2377440" y="5139000"/>
            <a:ext cx="7404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cb8212"/>
                </a:solidFill>
                <a:latin typeface="Poppins"/>
              </a:rPr>
              <a:t>200 OK   /   401 si token invalide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6" name="Connector 18"/>
          <p:cNvCxnSpPr/>
          <p:nvPr/>
        </p:nvCxnSpPr>
        <p:spPr>
          <a:xfrm flipH="1">
            <a:off x="2377440" y="5440680"/>
            <a:ext cx="7408440" cy="1800"/>
          </a:xfrm>
          <a:prstGeom prst="straightConnector1">
            <a:avLst/>
          </a:prstGeom>
          <a:ln w="22860">
            <a:solidFill>
              <a:srgbClr val="31346d"/>
            </a:solidFill>
            <a:round/>
            <a:tailEnd len="med" type="triangle" w="med"/>
          </a:ln>
        </p:spPr>
      </p:cxnSp>
      <p:sp>
        <p:nvSpPr>
          <p:cNvPr id="587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token est signé (secret serveur) et vérifié à chaque requête — pas de session côté API.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89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590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4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5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AUTH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Middleware de protection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function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auth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h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headers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authorization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||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token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startsWith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'Bearer 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?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slice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7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null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(!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token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401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'Token manquant'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try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user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jwt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verify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token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process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env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JWT_SECRET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catch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401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'Token invalide'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auth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routes protégées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9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401 = non authentifié ; 403 = authentifié mais droits insuffisants.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01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02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Sécuriser le projet (bcrypt + JWT)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0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5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Inscription, connexion et protection des routes de tâches.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/auth/register (hash bcrypt)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/auth/login (signe un JWT)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middleware auth sur /tasks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secret JWT en variable d'env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token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jwt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sign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sub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user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id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process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env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JWT_SECRET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expiresIn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'1h'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token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8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19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20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27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27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4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5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FICHIERS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Upload avec Multer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multer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'multer'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upload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multer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dest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'uploads/'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limits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fileSize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2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1024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1024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2 Mo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fileFilter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file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cb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cb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null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file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mimetype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startsWith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'image/'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post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'/tasks/:id/attachment'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upload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single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'file'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attachHandler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9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multipart/form-data : Multer gère le flux, les limites et le filtrage.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31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32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28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28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Upload d'une pièce jointe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6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Attacher un fichier à une tâche.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configurer Multer (taille, type)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route POST .../attachment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stocker le chemin dans la tâche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gérer les erreurs d'upload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post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'/tasks/:id/attachment'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auth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upload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single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'file'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async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file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path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attach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params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id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201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8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49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50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29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29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" name="Rectangle 2"/>
          <p:cNvSpPr/>
          <p:nvPr/>
        </p:nvSpPr>
        <p:spPr>
          <a:xfrm>
            <a:off x="822960" y="1828800"/>
            <a:ext cx="144360" cy="17355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5" name="TextBox 3"/>
          <p:cNvSpPr/>
          <p:nvPr/>
        </p:nvSpPr>
        <p:spPr>
          <a:xfrm>
            <a:off x="1097280" y="1828800"/>
            <a:ext cx="365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e74b56"/>
                </a:solidFill>
                <a:latin typeface="Poppins"/>
              </a:rPr>
              <a:t>JOUR 3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4"/>
          <p:cNvSpPr/>
          <p:nvPr/>
        </p:nvSpPr>
        <p:spPr>
          <a:xfrm>
            <a:off x="1060560" y="2194560"/>
            <a:ext cx="103309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Poppins"/>
              </a:rPr>
              <a:t>Base de données relationnelle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Box 5"/>
          <p:cNvSpPr/>
          <p:nvPr/>
        </p:nvSpPr>
        <p:spPr>
          <a:xfrm>
            <a:off x="1097280" y="3611880"/>
            <a:ext cx="98737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cbc7e2"/>
                </a:solidFill>
                <a:latin typeface="Poppins"/>
              </a:rPr>
              <a:t>PostgreSQL &amp; Prisma : modélisation, CRUD, relations et validation.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8" name="Picture 6" descr="logo-blanc.png"/>
          <p:cNvPicPr/>
          <p:nvPr/>
        </p:nvPicPr>
        <p:blipFill>
          <a:blip r:embed="rId1"/>
          <a:stretch/>
        </p:blipFill>
        <p:spPr>
          <a:xfrm>
            <a:off x="822960" y="6355080"/>
            <a:ext cx="1369800" cy="305640"/>
          </a:xfrm>
          <a:prstGeom prst="rect">
            <a:avLst/>
          </a:prstGeom>
          <a:ln w="0">
            <a:noFill/>
          </a:ln>
        </p:spPr>
      </p:pic>
      <p:sp>
        <p:nvSpPr>
          <p:cNvPr id="659" name="TextBox 7"/>
          <p:cNvSpPr/>
          <p:nvPr/>
        </p:nvSpPr>
        <p:spPr>
          <a:xfrm>
            <a:off x="10241280" y="6382440"/>
            <a:ext cx="1461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a9a4cb"/>
                </a:solidFill>
                <a:latin typeface="Poppins"/>
              </a:rPr>
              <a:t>30 / 57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DEUX MODÈLES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SQL vs NoSQL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Rounded Rectangle 5"/>
          <p:cNvSpPr/>
          <p:nvPr/>
        </p:nvSpPr>
        <p:spPr>
          <a:xfrm>
            <a:off x="777240" y="1737360"/>
            <a:ext cx="5420520" cy="39758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5" name="Rounded Rectangle 6"/>
          <p:cNvSpPr/>
          <p:nvPr/>
        </p:nvSpPr>
        <p:spPr>
          <a:xfrm>
            <a:off x="777240" y="1737360"/>
            <a:ext cx="5420520" cy="56520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6" name="TextBox 7"/>
          <p:cNvSpPr/>
          <p:nvPr/>
        </p:nvSpPr>
        <p:spPr>
          <a:xfrm>
            <a:off x="777240" y="1893600"/>
            <a:ext cx="542052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Poppins"/>
              </a:rPr>
              <a:t>SQL (relationnel)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Box 8"/>
          <p:cNvSpPr/>
          <p:nvPr/>
        </p:nvSpPr>
        <p:spPr>
          <a:xfrm>
            <a:off x="1143000" y="2541960"/>
            <a:ext cx="4689000" cy="11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221c4a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Tables &amp; lignes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221c4a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Schéma rigide, migrations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221c4a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Jointures, transactions ACID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221c4a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Scaling vertical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Rounded Rectangle 9"/>
          <p:cNvSpPr/>
          <p:nvPr/>
        </p:nvSpPr>
        <p:spPr>
          <a:xfrm>
            <a:off x="6309360" y="1737360"/>
            <a:ext cx="5420520" cy="397584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9" name="Rounded Rectangle 10"/>
          <p:cNvSpPr/>
          <p:nvPr/>
        </p:nvSpPr>
        <p:spPr>
          <a:xfrm>
            <a:off x="6309360" y="1737360"/>
            <a:ext cx="542052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0" name="TextBox 11"/>
          <p:cNvSpPr/>
          <p:nvPr/>
        </p:nvSpPr>
        <p:spPr>
          <a:xfrm>
            <a:off x="6309360" y="1893600"/>
            <a:ext cx="542052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Poppins"/>
              </a:rPr>
              <a:t>NoSQL (document)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Box 12"/>
          <p:cNvSpPr/>
          <p:nvPr/>
        </p:nvSpPr>
        <p:spPr>
          <a:xfrm>
            <a:off x="6675120" y="2541960"/>
            <a:ext cx="4689000" cy="11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Collections &amp; documents JSON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Schéma flexible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Données imbriquées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35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350" spc="-1" strike="noStrike">
                <a:solidFill>
                  <a:srgbClr val="221c4a"/>
                </a:solidFill>
                <a:latin typeface="Poppins"/>
              </a:rPr>
              <a:t>Scaling horizontal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13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PostgreSQL : un schéma relationnel typé ; Prisma le relie à vos objets JS — pratique côté Node.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74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75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31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31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0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CONNEXION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Prisma : se connecter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PrismaClient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'@prisma/client'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PrismaClient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$connect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console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log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'PostgreSQL connecté'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URL : postgresql://localhost:5432/tasks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(ou base PostgreSQL managée dans le cloud)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4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Prisma = ORM : il fait le pont entre vos objets JS et PostgreSQL.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6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687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Connecter le projet à PostgreSQL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5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7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Brancher l'API sur une base PostgreSQL via Prisma.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8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lancer Postgres (Docker)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module de connexion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URL en variable d'env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vérifier au démarrage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.env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DATABASE_URL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postgresql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//localhost:5432/tasks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src/db.js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new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PrismaClient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$connect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3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04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05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33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33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MODÉLISATION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Schéma Prisma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prisma/schema.prisma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model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id    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@id @default(uuid())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titre 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String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done  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Boolean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@default(false)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owner 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@db.Uuid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clé étrangère -&gt; User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ownerUser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User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@relation(fields: [owner], references: [id])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createdAt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DateTime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@default(now())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schéma décrit vos tables ; Prisma en génère un client typé pour les manipuler.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16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17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34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34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OPÉRATIONS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CRUD avec Prisma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create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titre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'Réviser'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 });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// C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findMany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where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done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false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 });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  // 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findUnique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where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id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 });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         // 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update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where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id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},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patch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});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// U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delete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where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id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 });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             // D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6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Quatre opérations qui couvrent l'essentiel d'une API REST.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28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29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3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4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Modèles Prisma (1/2)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7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8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Remplacer la persistance fichier par PostgreSQL.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0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modèles Task et User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brancher create / read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adapter les contrôleurs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retirer storage.js (fichier)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avant : await readTasks()  (fichier)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après 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tasks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findMany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task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create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 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5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46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47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RELATIONS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include, tri &amp; pagination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tasks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findMany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where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owner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userId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include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ownerUser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select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email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true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 } },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// joint le User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orderBy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createdAt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'desc'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 },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                     // tri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skip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20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take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10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                                   // pagination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owner = clé étrangère (UUID) vers User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6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include résout les relations entre tables (jointure SQL).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58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59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37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37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3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4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CRUD complet + relations (2/2)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7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9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Finaliser la persistance et lier tâches ↔ utilisateur.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0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update / delete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filtres, tri, pagination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relation owner + include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persister les comptes auth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router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get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9ed06e"/>
                </a:solidFill>
                <a:latin typeface="Consolas"/>
              </a:rPr>
              <a:t>'/'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async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=&gt;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statut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page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1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 } =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query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where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statut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?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statut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 } :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{};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list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= </a:t>
            </a: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findMany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where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skip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 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page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-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1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 *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10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take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10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res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list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5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76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777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38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38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DEUX COUCHES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Validation &amp; rejet 400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Rounded Rectangle 5"/>
          <p:cNvSpPr/>
          <p:nvPr/>
        </p:nvSpPr>
        <p:spPr>
          <a:xfrm>
            <a:off x="731520" y="2743200"/>
            <a:ext cx="210132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5" name="TextBox 6"/>
          <p:cNvSpPr/>
          <p:nvPr/>
        </p:nvSpPr>
        <p:spPr>
          <a:xfrm>
            <a:off x="731520" y="3084120"/>
            <a:ext cx="21013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req.body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Box 7"/>
          <p:cNvSpPr/>
          <p:nvPr/>
        </p:nvSpPr>
        <p:spPr>
          <a:xfrm>
            <a:off x="731520" y="3310200"/>
            <a:ext cx="2101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entrée brute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Rounded Rectangle 8"/>
          <p:cNvSpPr/>
          <p:nvPr/>
        </p:nvSpPr>
        <p:spPr>
          <a:xfrm>
            <a:off x="3200400" y="2743200"/>
            <a:ext cx="2467080" cy="109548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8" name="TextBox 9"/>
          <p:cNvSpPr/>
          <p:nvPr/>
        </p:nvSpPr>
        <p:spPr>
          <a:xfrm>
            <a:off x="3200400" y="308412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Middleware Zod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Box 10"/>
          <p:cNvSpPr/>
          <p:nvPr/>
        </p:nvSpPr>
        <p:spPr>
          <a:xfrm>
            <a:off x="3200400" y="3310200"/>
            <a:ext cx="24670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ffdddf"/>
                </a:solidFill>
                <a:latin typeface="Poppins"/>
              </a:rPr>
              <a:t>validation entrée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Rounded Rectangle 11"/>
          <p:cNvSpPr/>
          <p:nvPr/>
        </p:nvSpPr>
        <p:spPr>
          <a:xfrm>
            <a:off x="6126480" y="2743200"/>
            <a:ext cx="246708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1" name="TextBox 12"/>
          <p:cNvSpPr/>
          <p:nvPr/>
        </p:nvSpPr>
        <p:spPr>
          <a:xfrm>
            <a:off x="6126480" y="308412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Contrôleur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13"/>
          <p:cNvSpPr/>
          <p:nvPr/>
        </p:nvSpPr>
        <p:spPr>
          <a:xfrm>
            <a:off x="6126480" y="3310200"/>
            <a:ext cx="24670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logique métier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Rounded Rectangle 14"/>
          <p:cNvSpPr/>
          <p:nvPr/>
        </p:nvSpPr>
        <p:spPr>
          <a:xfrm>
            <a:off x="9052560" y="2743200"/>
            <a:ext cx="237564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4" name="TextBox 15"/>
          <p:cNvSpPr/>
          <p:nvPr/>
        </p:nvSpPr>
        <p:spPr>
          <a:xfrm>
            <a:off x="9052560" y="3084120"/>
            <a:ext cx="23756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Prisma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Box 16"/>
          <p:cNvSpPr/>
          <p:nvPr/>
        </p:nvSpPr>
        <p:spPr>
          <a:xfrm>
            <a:off x="9052560" y="3310200"/>
            <a:ext cx="23756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c9c5e0"/>
                </a:solidFill>
                <a:latin typeface="Poppins"/>
              </a:rPr>
              <a:t>contraintes + base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6" name="Connector 17"/>
          <p:cNvCxnSpPr/>
          <p:nvPr/>
        </p:nvCxnSpPr>
        <p:spPr>
          <a:xfrm>
            <a:off x="2834640" y="3291840"/>
            <a:ext cx="36756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797" name="Connector 18"/>
          <p:cNvCxnSpPr/>
          <p:nvPr/>
        </p:nvCxnSpPr>
        <p:spPr>
          <a:xfrm>
            <a:off x="5669280" y="3291840"/>
            <a:ext cx="45900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798" name="Connector 19"/>
          <p:cNvCxnSpPr/>
          <p:nvPr/>
        </p:nvCxnSpPr>
        <p:spPr>
          <a:xfrm>
            <a:off x="8595360" y="3291840"/>
            <a:ext cx="45900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799" name="Rounded Rectangle 20"/>
          <p:cNvSpPr/>
          <p:nvPr/>
        </p:nvSpPr>
        <p:spPr>
          <a:xfrm>
            <a:off x="3200400" y="4572000"/>
            <a:ext cx="2467080" cy="821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2e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0" name="TextBox 21"/>
          <p:cNvSpPr/>
          <p:nvPr/>
        </p:nvSpPr>
        <p:spPr>
          <a:xfrm>
            <a:off x="3200400" y="477576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cc2e3a"/>
                </a:solidFill>
                <a:latin typeface="Poppins"/>
              </a:rPr>
              <a:t>HTTP 400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Box 22"/>
          <p:cNvSpPr/>
          <p:nvPr/>
        </p:nvSpPr>
        <p:spPr>
          <a:xfrm>
            <a:off x="3200400" y="5001840"/>
            <a:ext cx="246708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erreurs structurées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2" name="Connector 23"/>
          <p:cNvCxnSpPr/>
          <p:nvPr/>
        </p:nvCxnSpPr>
        <p:spPr>
          <a:xfrm>
            <a:off x="4434840" y="3840480"/>
            <a:ext cx="1800" cy="733320"/>
          </a:xfrm>
          <a:prstGeom prst="straightConnector1">
            <a:avLst/>
          </a:prstGeom>
          <a:ln w="0">
            <a:solidFill>
              <a:srgbClr val="cc2e3a"/>
            </a:solidFill>
            <a:tailEnd len="med" type="triangle" w="med"/>
          </a:ln>
        </p:spPr>
      </p:cxnSp>
      <p:sp>
        <p:nvSpPr>
          <p:cNvPr id="803" name="TextBox 24"/>
          <p:cNvSpPr/>
          <p:nvPr/>
        </p:nvSpPr>
        <p:spPr>
          <a:xfrm>
            <a:off x="731520" y="5623560"/>
            <a:ext cx="106052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00" spc="-1" strike="noStrike">
                <a:solidFill>
                  <a:srgbClr val="737373"/>
                </a:solidFill>
                <a:latin typeface="Poppins"/>
              </a:rPr>
              <a:t>Couche 1 : rejet immédiat des entrées invalides (Zod → 400). Couche 2 : garde-fou en base (Prisma / PostgreSQL).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Rectangle 25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5" name="Picture 26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806" name="TextBox 27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Box 28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39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Box 29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39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0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1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VALIDATION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Schéma Zod → HTTP 400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Rounded Rectangle 5"/>
          <p:cNvSpPr/>
          <p:nvPr/>
        </p:nvSpPr>
        <p:spPr>
          <a:xfrm>
            <a:off x="777240" y="1664280"/>
            <a:ext cx="6444720" cy="411300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z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'zod'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createTask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z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object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({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titre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z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().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min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1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max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120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),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done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z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boolean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().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optional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(),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createTask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safeParse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body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(!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success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400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errors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error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issues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Rectangle 6"/>
          <p:cNvSpPr/>
          <p:nvPr/>
        </p:nvSpPr>
        <p:spPr>
          <a:xfrm>
            <a:off x="777240" y="1664280"/>
            <a:ext cx="80640" cy="41130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5" name="Rounded Rectangle 7"/>
          <p:cNvSpPr/>
          <p:nvPr/>
        </p:nvSpPr>
        <p:spPr>
          <a:xfrm>
            <a:off x="7452360" y="166428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6" name="Rectangle 8"/>
          <p:cNvSpPr/>
          <p:nvPr/>
        </p:nvSpPr>
        <p:spPr>
          <a:xfrm>
            <a:off x="7452360" y="166428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7" name="TextBox 9"/>
          <p:cNvSpPr/>
          <p:nvPr/>
        </p:nvSpPr>
        <p:spPr>
          <a:xfrm>
            <a:off x="7699320" y="181044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Au plus tôt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Box 10"/>
          <p:cNvSpPr/>
          <p:nvPr/>
        </p:nvSpPr>
        <p:spPr>
          <a:xfrm>
            <a:off x="7699320" y="217620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avant d'atteindre la base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Rounded Rectangle 11"/>
          <p:cNvSpPr/>
          <p:nvPr/>
        </p:nvSpPr>
        <p:spPr>
          <a:xfrm>
            <a:off x="7452360" y="30542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0" name="Rectangle 12"/>
          <p:cNvSpPr/>
          <p:nvPr/>
        </p:nvSpPr>
        <p:spPr>
          <a:xfrm>
            <a:off x="7452360" y="3054240"/>
            <a:ext cx="108000" cy="122364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1" name="TextBox 13"/>
          <p:cNvSpPr/>
          <p:nvPr/>
        </p:nvSpPr>
        <p:spPr>
          <a:xfrm>
            <a:off x="7699320" y="320040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400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Box 14"/>
          <p:cNvSpPr/>
          <p:nvPr/>
        </p:nvSpPr>
        <p:spPr>
          <a:xfrm>
            <a:off x="7699320" y="356616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entrée invalide rejetée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ounded Rectangle 15"/>
          <p:cNvSpPr/>
          <p:nvPr/>
        </p:nvSpPr>
        <p:spPr>
          <a:xfrm>
            <a:off x="7452360" y="44438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Rectangle 16"/>
          <p:cNvSpPr/>
          <p:nvPr/>
        </p:nvSpPr>
        <p:spPr>
          <a:xfrm>
            <a:off x="7452360" y="4443840"/>
            <a:ext cx="108000" cy="1223640"/>
          </a:xfrm>
          <a:prstGeom prst="rect">
            <a:avLst/>
          </a:prstGeom>
          <a:solidFill>
            <a:srgbClr val="31346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5" name="TextBox 17"/>
          <p:cNvSpPr/>
          <p:nvPr/>
        </p:nvSpPr>
        <p:spPr>
          <a:xfrm>
            <a:off x="7699320" y="459036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Messages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Box 18"/>
          <p:cNvSpPr/>
          <p:nvPr/>
        </p:nvSpPr>
        <p:spPr>
          <a:xfrm>
            <a:off x="7699320" y="495612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erreurs structurées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Zod valide la forme du body côté Express.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9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830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40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40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4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5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RÉUTILISABLE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Middleware de validation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validate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schema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=&gt;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schema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safeParse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body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(!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success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res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status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ffa167"/>
                </a:solidFill>
                <a:latin typeface="Consolas"/>
              </a:rPr>
              <a:t>400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errors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error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flatten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req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body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data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      </a:t>
            </a:r>
            <a:r>
              <a:rPr b="0" lang="en-US" sz="1250" spc="-1" strike="noStrike">
                <a:solidFill>
                  <a:srgbClr val="8680a6"/>
                </a:solidFill>
                <a:latin typeface="Consolas"/>
              </a:rPr>
              <a:t>// body nettoyé / typé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next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post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'/tasks'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validate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createTask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create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9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middleware paramétrable, branché sur chaque route sensible.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41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842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41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41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Validation Zod + sécurisation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0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10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Rejeter les entrées invalides et durcir les requêtes.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3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schémas Zod (task, auth)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middleware validate → 400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contraintes Prisma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prévenir les injections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Injections SQL : Prisma paramètre tout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ff868e"/>
                </a:solidFill>
                <a:latin typeface="Consolas"/>
              </a:rPr>
              <a:t>await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prisma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task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findMany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where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titre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q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 } });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8680a6"/>
                </a:solidFill>
                <a:latin typeface="Consolas"/>
              </a:rPr>
              <a:t>// jamais de SQL concaténé (injection)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8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59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860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4" name="Rectangle 2"/>
          <p:cNvSpPr/>
          <p:nvPr/>
        </p:nvSpPr>
        <p:spPr>
          <a:xfrm>
            <a:off x="822960" y="1828800"/>
            <a:ext cx="144360" cy="17355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5" name="TextBox 3"/>
          <p:cNvSpPr/>
          <p:nvPr/>
        </p:nvSpPr>
        <p:spPr>
          <a:xfrm>
            <a:off x="1097280" y="1828800"/>
            <a:ext cx="365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e74b56"/>
                </a:solidFill>
                <a:latin typeface="Poppins"/>
              </a:rPr>
              <a:t>JOUR 4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Box 4"/>
          <p:cNvSpPr/>
          <p:nvPr/>
        </p:nvSpPr>
        <p:spPr>
          <a:xfrm>
            <a:off x="1060560" y="2194560"/>
            <a:ext cx="10330920" cy="12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Poppins"/>
              </a:rPr>
              <a:t>Documentation, finalisation &amp; production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Box 5"/>
          <p:cNvSpPr/>
          <p:nvPr/>
        </p:nvSpPr>
        <p:spPr>
          <a:xfrm>
            <a:off x="1097280" y="3611880"/>
            <a:ext cx="98737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600" spc="-1" strike="noStrike">
                <a:solidFill>
                  <a:srgbClr val="cbc7e2"/>
                </a:solidFill>
                <a:latin typeface="Poppins"/>
              </a:rPr>
              <a:t>OpenAPI/Swagger, finitions, conteneurisation Docker et durcissement.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8" name="Picture 6" descr="logo-blanc.png"/>
          <p:cNvPicPr/>
          <p:nvPr/>
        </p:nvPicPr>
        <p:blipFill>
          <a:blip r:embed="rId1"/>
          <a:stretch/>
        </p:blipFill>
        <p:spPr>
          <a:xfrm>
            <a:off x="822960" y="6355080"/>
            <a:ext cx="1369800" cy="305640"/>
          </a:xfrm>
          <a:prstGeom prst="rect">
            <a:avLst/>
          </a:prstGeom>
          <a:ln w="0">
            <a:noFill/>
          </a:ln>
        </p:spPr>
      </p:pic>
      <p:sp>
        <p:nvSpPr>
          <p:cNvPr id="869" name="TextBox 7"/>
          <p:cNvSpPr/>
          <p:nvPr/>
        </p:nvSpPr>
        <p:spPr>
          <a:xfrm>
            <a:off x="10241280" y="6382440"/>
            <a:ext cx="1461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a9a4cb"/>
                </a:solidFill>
                <a:latin typeface="Poppins"/>
              </a:rPr>
              <a:t>43 / 57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DOCUMENTATION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OpenAPI &amp; Swagger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Rounded Rectangle 5"/>
          <p:cNvSpPr/>
          <p:nvPr/>
        </p:nvSpPr>
        <p:spPr>
          <a:xfrm>
            <a:off x="822960" y="2103120"/>
            <a:ext cx="246708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5" name="TextBox 6"/>
          <p:cNvSpPr/>
          <p:nvPr/>
        </p:nvSpPr>
        <p:spPr>
          <a:xfrm>
            <a:off x="822960" y="244404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Code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Box 7"/>
          <p:cNvSpPr/>
          <p:nvPr/>
        </p:nvSpPr>
        <p:spPr>
          <a:xfrm>
            <a:off x="822960" y="2670120"/>
            <a:ext cx="24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annotations JSDoc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Rounded Rectangle 8"/>
          <p:cNvSpPr/>
          <p:nvPr/>
        </p:nvSpPr>
        <p:spPr>
          <a:xfrm>
            <a:off x="3840480" y="2103120"/>
            <a:ext cx="2467080" cy="109548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8" name="TextBox 9"/>
          <p:cNvSpPr/>
          <p:nvPr/>
        </p:nvSpPr>
        <p:spPr>
          <a:xfrm>
            <a:off x="3840480" y="244404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swagger-jsdoc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Box 10"/>
          <p:cNvSpPr/>
          <p:nvPr/>
        </p:nvSpPr>
        <p:spPr>
          <a:xfrm>
            <a:off x="3840480" y="2670120"/>
            <a:ext cx="24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génère la spec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Rounded Rectangle 11"/>
          <p:cNvSpPr/>
          <p:nvPr/>
        </p:nvSpPr>
        <p:spPr>
          <a:xfrm>
            <a:off x="6858000" y="2103120"/>
            <a:ext cx="2467080" cy="109548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1" name="TextBox 12"/>
          <p:cNvSpPr/>
          <p:nvPr/>
        </p:nvSpPr>
        <p:spPr>
          <a:xfrm>
            <a:off x="6858000" y="2444040"/>
            <a:ext cx="2467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OpenAPI 3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Box 13"/>
          <p:cNvSpPr/>
          <p:nvPr/>
        </p:nvSpPr>
        <p:spPr>
          <a:xfrm>
            <a:off x="6858000" y="2670120"/>
            <a:ext cx="24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contrat (JSON)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Rounded Rectangle 14"/>
          <p:cNvSpPr/>
          <p:nvPr/>
        </p:nvSpPr>
        <p:spPr>
          <a:xfrm>
            <a:off x="9144000" y="3931920"/>
            <a:ext cx="2192760" cy="109548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4" name="TextBox 15"/>
          <p:cNvSpPr/>
          <p:nvPr/>
        </p:nvSpPr>
        <p:spPr>
          <a:xfrm>
            <a:off x="9144000" y="4272840"/>
            <a:ext cx="2192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Swagger UI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Box 16"/>
          <p:cNvSpPr/>
          <p:nvPr/>
        </p:nvSpPr>
        <p:spPr>
          <a:xfrm>
            <a:off x="9144000" y="4498920"/>
            <a:ext cx="2192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ffdddf"/>
                </a:solidFill>
                <a:latin typeface="Poppins"/>
              </a:rPr>
              <a:t>/docs interactif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6" name="Connector 17"/>
          <p:cNvCxnSpPr/>
          <p:nvPr/>
        </p:nvCxnSpPr>
        <p:spPr>
          <a:xfrm>
            <a:off x="3291840" y="2651760"/>
            <a:ext cx="5504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887" name="Connector 18"/>
          <p:cNvCxnSpPr/>
          <p:nvPr/>
        </p:nvCxnSpPr>
        <p:spPr>
          <a:xfrm>
            <a:off x="6309360" y="2651760"/>
            <a:ext cx="5504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cxnSp>
        <p:nvCxnSpPr>
          <p:cNvPr id="888" name="Connector 19"/>
          <p:cNvCxnSpPr/>
          <p:nvPr/>
        </p:nvCxnSpPr>
        <p:spPr>
          <a:xfrm>
            <a:off x="8092440" y="3200400"/>
            <a:ext cx="1602000" cy="73332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889" name="TextBox 20"/>
          <p:cNvSpPr/>
          <p:nvPr/>
        </p:nvSpPr>
        <p:spPr>
          <a:xfrm>
            <a:off x="822960" y="4572000"/>
            <a:ext cx="78620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seul contrat décrit l'API : essais interactifs, génération de clients, doc toujours à jour.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Rectangle 2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91" name="Picture 2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892" name="TextBox 2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Box 2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44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Box 2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44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DOCUMENTATION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Servir Swagger UI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swaggerUi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'swagger-ui-express'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swaggerJsdoc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'swagger-jsdoc'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spec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swaggerJsdoc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({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definition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openapi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'3.0.0'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info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title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'Task API'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version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'1.0.0'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apis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'./src/routes/*.js'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],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});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9ed06e"/>
                </a:solidFill>
                <a:latin typeface="Consolas"/>
              </a:rPr>
              <a:t>'/docs'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swaggerUi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serve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swaggerUi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setup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spec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));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1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Documentation interactive sur /docs, générée depuis le code.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03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904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Documenter l'API (OpenAPI)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2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11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Exposer un contrat clair et testable de l'API.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5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swagger-jsdoc + swagger-ui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annoter les routes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réponses 200/201/400/401/404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schémas Task, User, Error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Box 11"/>
          <p:cNvSpPr/>
          <p:nvPr/>
        </p:nvSpPr>
        <p:spPr>
          <a:xfrm>
            <a:off x="6583680" y="2743200"/>
            <a:ext cx="5118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REPÈRE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Rounded Rectangle 12"/>
          <p:cNvSpPr/>
          <p:nvPr/>
        </p:nvSpPr>
        <p:spPr>
          <a:xfrm>
            <a:off x="6583680" y="3108960"/>
            <a:ext cx="5100480" cy="264996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/**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@openapi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/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tasks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get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 responses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200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...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post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    responses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201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{},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ffa167"/>
                </a:solidFill>
                <a:latin typeface="Consolas"/>
              </a:rPr>
              <a:t>400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{}</a:t>
            </a: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00" spc="-1" strike="noStrike">
                <a:solidFill>
                  <a:srgbClr val="b7b2cf"/>
                </a:solidFill>
                <a:latin typeface="Consolas"/>
              </a:rPr>
              <a:t>*/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Rectangle 13"/>
          <p:cNvSpPr/>
          <p:nvPr/>
        </p:nvSpPr>
        <p:spPr>
          <a:xfrm>
            <a:off x="6583680" y="3108960"/>
            <a:ext cx="80640" cy="26499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0" name="Rectangle 14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21" name="Picture 15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922" name="TextBox 16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Box 17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Box 18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6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7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FINALISATION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Cohérence &amp; finitions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Rounded Rectangle 5"/>
          <p:cNvSpPr/>
          <p:nvPr/>
        </p:nvSpPr>
        <p:spPr>
          <a:xfrm>
            <a:off x="777240" y="1664280"/>
            <a:ext cx="6444720" cy="411300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Format d'erreur unique pour toute l'API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"error"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{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"code"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"VALIDATION"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"message"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"titre est requis"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"details"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...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]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Rectangle 6"/>
          <p:cNvSpPr/>
          <p:nvPr/>
        </p:nvSpPr>
        <p:spPr>
          <a:xfrm>
            <a:off x="777240" y="1664280"/>
            <a:ext cx="80640" cy="41130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1" name="Rounded Rectangle 7"/>
          <p:cNvSpPr/>
          <p:nvPr/>
        </p:nvSpPr>
        <p:spPr>
          <a:xfrm>
            <a:off x="7452360" y="166428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2" name="Rectangle 8"/>
          <p:cNvSpPr/>
          <p:nvPr/>
        </p:nvSpPr>
        <p:spPr>
          <a:xfrm>
            <a:off x="7452360" y="1664280"/>
            <a:ext cx="108000" cy="1223640"/>
          </a:xfrm>
          <a:prstGeom prst="rect">
            <a:avLst/>
          </a:prstGeom>
          <a:solidFill>
            <a:srgbClr val="31346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3" name="TextBox 9"/>
          <p:cNvSpPr/>
          <p:nvPr/>
        </p:nvSpPr>
        <p:spPr>
          <a:xfrm>
            <a:off x="7699320" y="181044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Pagination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Box 10"/>
          <p:cNvSpPr/>
          <p:nvPr/>
        </p:nvSpPr>
        <p:spPr>
          <a:xfrm>
            <a:off x="7699320" y="217620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tri &amp; filtres exposés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Rounded Rectangle 11"/>
          <p:cNvSpPr/>
          <p:nvPr/>
        </p:nvSpPr>
        <p:spPr>
          <a:xfrm>
            <a:off x="7452360" y="30542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6" name="Rectangle 12"/>
          <p:cNvSpPr/>
          <p:nvPr/>
        </p:nvSpPr>
        <p:spPr>
          <a:xfrm>
            <a:off x="7452360" y="305424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7" name="TextBox 13"/>
          <p:cNvSpPr/>
          <p:nvPr/>
        </p:nvSpPr>
        <p:spPr>
          <a:xfrm>
            <a:off x="7699320" y="320040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Codes HTTP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Box 14"/>
          <p:cNvSpPr/>
          <p:nvPr/>
        </p:nvSpPr>
        <p:spPr>
          <a:xfrm>
            <a:off x="7699320" y="356616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cohérents partout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Rounded Rectangle 15"/>
          <p:cNvSpPr/>
          <p:nvPr/>
        </p:nvSpPr>
        <p:spPr>
          <a:xfrm>
            <a:off x="7452360" y="44438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0" name="Rectangle 16"/>
          <p:cNvSpPr/>
          <p:nvPr/>
        </p:nvSpPr>
        <p:spPr>
          <a:xfrm>
            <a:off x="7452360" y="4443840"/>
            <a:ext cx="108000" cy="122364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1" name="TextBox 17"/>
          <p:cNvSpPr/>
          <p:nvPr/>
        </p:nvSpPr>
        <p:spPr>
          <a:xfrm>
            <a:off x="7699320" y="459036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.env.example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Box 18"/>
          <p:cNvSpPr/>
          <p:nvPr/>
        </p:nvSpPr>
        <p:spPr>
          <a:xfrm>
            <a:off x="7699320" y="495612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config documentée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format de réponse prévisible facilite la consommation de l'API.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45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946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47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47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0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1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Finalisation &amp; revue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4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12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Compléter, harmoniser, nettoyer avant la mise en production.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7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fonctionnalités restantes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handler d'erreurs unifié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revue de code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README + .env.example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Rectangle 1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0" name="Picture 1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961" name="TextBox 1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Box 1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48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TextBox 1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48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5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6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CONTENEURISATION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Docker &amp; docker-compose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Rounded Rectangle 5"/>
          <p:cNvSpPr/>
          <p:nvPr/>
        </p:nvSpPr>
        <p:spPr>
          <a:xfrm>
            <a:off x="914400" y="2194560"/>
            <a:ext cx="2649960" cy="100404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9" name="TextBox 6"/>
          <p:cNvSpPr/>
          <p:nvPr/>
        </p:nvSpPr>
        <p:spPr>
          <a:xfrm>
            <a:off x="914400" y="2489760"/>
            <a:ext cx="2649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Dockerfile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TextBox 7"/>
          <p:cNvSpPr/>
          <p:nvPr/>
        </p:nvSpPr>
        <p:spPr>
          <a:xfrm>
            <a:off x="914400" y="2715840"/>
            <a:ext cx="2649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recette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Rounded Rectangle 8"/>
          <p:cNvSpPr/>
          <p:nvPr/>
        </p:nvSpPr>
        <p:spPr>
          <a:xfrm>
            <a:off x="4206240" y="2194560"/>
            <a:ext cx="2649960" cy="100404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2" name="TextBox 9"/>
          <p:cNvSpPr/>
          <p:nvPr/>
        </p:nvSpPr>
        <p:spPr>
          <a:xfrm>
            <a:off x="4206240" y="2489760"/>
            <a:ext cx="2649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</a:rPr>
              <a:t>Image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Box 10"/>
          <p:cNvSpPr/>
          <p:nvPr/>
        </p:nvSpPr>
        <p:spPr>
          <a:xfrm>
            <a:off x="4206240" y="2715840"/>
            <a:ext cx="2649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c9c5e0"/>
                </a:solidFill>
                <a:latin typeface="Poppins"/>
              </a:rPr>
              <a:t>build immuable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Rounded Rectangle 11"/>
          <p:cNvSpPr/>
          <p:nvPr/>
        </p:nvSpPr>
        <p:spPr>
          <a:xfrm>
            <a:off x="7498080" y="2194560"/>
            <a:ext cx="2649960" cy="100404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5" name="TextBox 12"/>
          <p:cNvSpPr/>
          <p:nvPr/>
        </p:nvSpPr>
        <p:spPr>
          <a:xfrm>
            <a:off x="7498080" y="2489760"/>
            <a:ext cx="2649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Conteneur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TextBox 13"/>
          <p:cNvSpPr/>
          <p:nvPr/>
        </p:nvSpPr>
        <p:spPr>
          <a:xfrm>
            <a:off x="7498080" y="2715840"/>
            <a:ext cx="2649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run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7" name="Connector 14"/>
          <p:cNvCxnSpPr/>
          <p:nvPr/>
        </p:nvCxnSpPr>
        <p:spPr>
          <a:xfrm>
            <a:off x="3566160" y="2697480"/>
            <a:ext cx="64188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978" name="TextBox 15"/>
          <p:cNvSpPr/>
          <p:nvPr/>
        </p:nvSpPr>
        <p:spPr>
          <a:xfrm>
            <a:off x="3429000" y="2331720"/>
            <a:ext cx="8211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build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9" name="Connector 16"/>
          <p:cNvCxnSpPr/>
          <p:nvPr/>
        </p:nvCxnSpPr>
        <p:spPr>
          <a:xfrm>
            <a:off x="6858000" y="2697480"/>
            <a:ext cx="6415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980" name="TextBox 17"/>
          <p:cNvSpPr/>
          <p:nvPr/>
        </p:nvSpPr>
        <p:spPr>
          <a:xfrm>
            <a:off x="6720840" y="2331720"/>
            <a:ext cx="8211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run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Rounded Rectangle 18"/>
          <p:cNvSpPr/>
          <p:nvPr/>
        </p:nvSpPr>
        <p:spPr>
          <a:xfrm>
            <a:off x="914400" y="3886200"/>
            <a:ext cx="10056600" cy="18270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2" name="TextBox 19"/>
          <p:cNvSpPr/>
          <p:nvPr/>
        </p:nvSpPr>
        <p:spPr>
          <a:xfrm>
            <a:off x="1143000" y="4023360"/>
            <a:ext cx="45702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docker compose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Rounded Rectangle 20"/>
          <p:cNvSpPr/>
          <p:nvPr/>
        </p:nvSpPr>
        <p:spPr>
          <a:xfrm>
            <a:off x="1280160" y="4434840"/>
            <a:ext cx="4387320" cy="95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4" name="TextBox 21"/>
          <p:cNvSpPr/>
          <p:nvPr/>
        </p:nvSpPr>
        <p:spPr>
          <a:xfrm>
            <a:off x="1280160" y="4707360"/>
            <a:ext cx="43873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service app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Box 22"/>
          <p:cNvSpPr/>
          <p:nvPr/>
        </p:nvSpPr>
        <p:spPr>
          <a:xfrm>
            <a:off x="1280160" y="4933080"/>
            <a:ext cx="4387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API Node :3000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Rounded Rectangle 23"/>
          <p:cNvSpPr/>
          <p:nvPr/>
        </p:nvSpPr>
        <p:spPr>
          <a:xfrm>
            <a:off x="6217920" y="4434840"/>
            <a:ext cx="4387320" cy="95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7" name="TextBox 24"/>
          <p:cNvSpPr/>
          <p:nvPr/>
        </p:nvSpPr>
        <p:spPr>
          <a:xfrm>
            <a:off x="6217920" y="4707360"/>
            <a:ext cx="43873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1c4a"/>
                </a:solidFill>
                <a:latin typeface="Poppins"/>
              </a:rPr>
              <a:t>service postgres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TextBox 25"/>
          <p:cNvSpPr/>
          <p:nvPr/>
        </p:nvSpPr>
        <p:spPr>
          <a:xfrm>
            <a:off x="6217920" y="4933080"/>
            <a:ext cx="4387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PostgreSQL + volume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9" name="Connector 26"/>
          <p:cNvCxnSpPr/>
          <p:nvPr/>
        </p:nvCxnSpPr>
        <p:spPr>
          <a:xfrm>
            <a:off x="5669280" y="4910040"/>
            <a:ext cx="5504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990" name="TextBox 27"/>
          <p:cNvSpPr/>
          <p:nvPr/>
        </p:nvSpPr>
        <p:spPr>
          <a:xfrm>
            <a:off x="4572000" y="4480560"/>
            <a:ext cx="1735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DATABASE_URL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Rectangle 2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92" name="Picture 2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993" name="TextBox 3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TextBox 3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49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TextBox 3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49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7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8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IMAGE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Dockerfile multi-stage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# — build —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FROM node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20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alpine AS build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WORKDIR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/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COPY package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*.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json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./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RUN npm ci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COPY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# — run —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FROM node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20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alpine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WORKDIR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/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COPY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--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from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build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/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USER node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EXPOSE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3000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CMD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"node"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"src/server.js"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]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2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Multi-stage = image finale légère, exécutée en utilisateur non-root.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04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05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50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50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9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0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ORCHESTRATION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docker-compose.yml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services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app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build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ports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00" spc="-1" strike="noStrike">
                <a:solidFill>
                  <a:srgbClr val="9ed06e"/>
                </a:solidFill>
                <a:latin typeface="Consolas"/>
              </a:rPr>
              <a:t>"3000:3000"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environment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  DATABASE_URL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postgresql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8680a6"/>
                </a:solidFill>
                <a:latin typeface="Consolas"/>
              </a:rPr>
              <a:t>//postgres:postgres@postgres:5432/tasks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depends_on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postgres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postgres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image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postgres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ffa167"/>
                </a:solidFill>
                <a:latin typeface="Consolas"/>
              </a:rPr>
              <a:t>16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   volumes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[</a:t>
            </a:r>
            <a:r>
              <a:rPr b="0" lang="en-US" sz="1200" spc="-1" strike="noStrike">
                <a:solidFill>
                  <a:srgbClr val="9ed06e"/>
                </a:solidFill>
                <a:latin typeface="Consolas"/>
              </a:rPr>
              <a:t>"pg-data:/var/lib/postgresql/data"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volumes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{ </a:t>
            </a:r>
            <a:r>
              <a:rPr b="0" lang="en-US" sz="1200" spc="-1" strike="noStrike">
                <a:solidFill>
                  <a:srgbClr val="e9e7f3"/>
                </a:solidFill>
                <a:latin typeface="Consolas"/>
              </a:rPr>
              <a:t>pg-data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: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{} </a:t>
            </a:r>
            <a:r>
              <a:rPr b="0" lang="en-US" sz="1200" spc="-1" strike="noStrike">
                <a:solidFill>
                  <a:srgbClr val="b7b2cf"/>
                </a:solidFill>
                <a:latin typeface="Consolas"/>
              </a:rPr>
              <a:t>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4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Un seul fichier démarre l'API + la base, en réseau privé.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16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17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51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51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1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2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ALTERNATIVE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Process manager — PM2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Rounded Rectangle 5"/>
          <p:cNvSpPr/>
          <p:nvPr/>
        </p:nvSpPr>
        <p:spPr>
          <a:xfrm>
            <a:off x="777240" y="1664280"/>
            <a:ext cx="10605240" cy="393012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npm install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g pm2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pm2 start src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/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server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js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--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name 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api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i max  # cluster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pm2 startup 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&amp;&amp;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 pm2 save                          # redémarrage auto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pm2 logs task</a:t>
            </a:r>
            <a:r>
              <a:rPr b="0" lang="en-US" sz="1250" spc="-1" strike="noStrike">
                <a:solidFill>
                  <a:srgbClr val="b7b2cf"/>
                </a:solidFill>
                <a:latin typeface="Consolas"/>
              </a:rPr>
              <a:t>-</a:t>
            </a:r>
            <a:r>
              <a:rPr b="0" lang="en-US" sz="1250" spc="-1" strike="noStrike">
                <a:solidFill>
                  <a:srgbClr val="e9e7f3"/>
                </a:solidFill>
                <a:latin typeface="Consolas"/>
              </a:rPr>
              <a:t>api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Rectangle 6"/>
          <p:cNvSpPr/>
          <p:nvPr/>
        </p:nvSpPr>
        <p:spPr>
          <a:xfrm>
            <a:off x="777240" y="1664280"/>
            <a:ext cx="80640" cy="393012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6" name="TextBox 7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PM2 : clustering, redémarrage automatique et logs — sans conteneur.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Rectangle 8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28" name="Picture 9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29" name="TextBox 10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TextBox 11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52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TextBox 12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52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3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4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Conteneuriser le projet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7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13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Empaqueter l'API et sa base pour un déploiement reproductible.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0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Dockerfile multi-stage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docker-compose (app + postgres)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variables d'environnement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docker compose up + test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Rectangle 1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43" name="Picture 1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44" name="TextBox 1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TextBox 1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53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TextBox 1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53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9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SÉCURITÉ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Durcissement de l'API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Rounded Rectangle 5"/>
          <p:cNvSpPr/>
          <p:nvPr/>
        </p:nvSpPr>
        <p:spPr>
          <a:xfrm>
            <a:off x="777240" y="1664280"/>
            <a:ext cx="6444720" cy="4113000"/>
          </a:xfrm>
          <a:prstGeom prst="roundRect">
            <a:avLst>
              <a:gd name="adj" fmla="val 6000"/>
            </a:avLst>
          </a:prstGeom>
          <a:solidFill>
            <a:srgbClr val="1b1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37600" rIns="137160" tIns="146160" bIns="109800" anchor="t">
            <a:noAutofit/>
          </a:bodyPr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helmet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'helmet'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const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rateLimit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=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868e"/>
                </a:solidFill>
                <a:latin typeface="Consolas"/>
              </a:rPr>
              <a:t>require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'express-rate-limit'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helmet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());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en-têtes HTTP sûrs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quota global : 100 requêtes / min / IP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rateLimit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windowMs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60_000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max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100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8680a6"/>
                </a:solidFill>
                <a:latin typeface="Consolas"/>
              </a:rPr>
              <a:t>// anti brute-force sur l'authentification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app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.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use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9ed06e"/>
                </a:solidFill>
                <a:latin typeface="Consolas"/>
              </a:rPr>
              <a:t>'/auth'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 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rateLimit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({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windowMs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60_000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,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max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: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ffa167"/>
                </a:solidFill>
                <a:latin typeface="Consolas"/>
              </a:rPr>
              <a:t>10</a:t>
            </a:r>
            <a:r>
              <a:rPr b="0" lang="en-US" sz="1150" spc="-1" strike="noStrike">
                <a:solidFill>
                  <a:srgbClr val="e9e7f3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b7b2cf"/>
                </a:solidFill>
                <a:latin typeface="Consolas"/>
              </a:rPr>
              <a:t>}));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Rectangle 6"/>
          <p:cNvSpPr/>
          <p:nvPr/>
        </p:nvSpPr>
        <p:spPr>
          <a:xfrm>
            <a:off x="777240" y="1664280"/>
            <a:ext cx="80640" cy="411300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3" name="Rounded Rectangle 7"/>
          <p:cNvSpPr/>
          <p:nvPr/>
        </p:nvSpPr>
        <p:spPr>
          <a:xfrm>
            <a:off x="7452360" y="166428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4" name="Rectangle 8"/>
          <p:cNvSpPr/>
          <p:nvPr/>
        </p:nvSpPr>
        <p:spPr>
          <a:xfrm>
            <a:off x="7452360" y="1664280"/>
            <a:ext cx="108000" cy="1223640"/>
          </a:xfrm>
          <a:prstGeom prst="rect">
            <a:avLst/>
          </a:prstGeom>
          <a:solidFill>
            <a:srgbClr val="2ea0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5" name="TextBox 9"/>
          <p:cNvSpPr/>
          <p:nvPr/>
        </p:nvSpPr>
        <p:spPr>
          <a:xfrm>
            <a:off x="7699320" y="181044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helmet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TextBox 10"/>
          <p:cNvSpPr/>
          <p:nvPr/>
        </p:nvSpPr>
        <p:spPr>
          <a:xfrm>
            <a:off x="7699320" y="217620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en-têtes de sécurité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Rounded Rectangle 11"/>
          <p:cNvSpPr/>
          <p:nvPr/>
        </p:nvSpPr>
        <p:spPr>
          <a:xfrm>
            <a:off x="7452360" y="30542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8" name="Rectangle 12"/>
          <p:cNvSpPr/>
          <p:nvPr/>
        </p:nvSpPr>
        <p:spPr>
          <a:xfrm>
            <a:off x="7452360" y="3054240"/>
            <a:ext cx="108000" cy="1223640"/>
          </a:xfrm>
          <a:prstGeom prst="rect">
            <a:avLst/>
          </a:prstGeom>
          <a:solidFill>
            <a:srgbClr val="cb8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9" name="TextBox 13"/>
          <p:cNvSpPr/>
          <p:nvPr/>
        </p:nvSpPr>
        <p:spPr>
          <a:xfrm>
            <a:off x="7699320" y="320040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rate-limit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Box 14"/>
          <p:cNvSpPr/>
          <p:nvPr/>
        </p:nvSpPr>
        <p:spPr>
          <a:xfrm>
            <a:off x="7699320" y="356616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quota par IP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Rounded Rectangle 15"/>
          <p:cNvSpPr/>
          <p:nvPr/>
        </p:nvSpPr>
        <p:spPr>
          <a:xfrm>
            <a:off x="7452360" y="4443840"/>
            <a:ext cx="4231800" cy="122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2" name="Rectangle 16"/>
          <p:cNvSpPr/>
          <p:nvPr/>
        </p:nvSpPr>
        <p:spPr>
          <a:xfrm>
            <a:off x="7452360" y="4443840"/>
            <a:ext cx="108000" cy="1223640"/>
          </a:xfrm>
          <a:prstGeom prst="rect">
            <a:avLst/>
          </a:prstGeom>
          <a:solidFill>
            <a:srgbClr val="31346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3" name="TextBox 17"/>
          <p:cNvSpPr/>
          <p:nvPr/>
        </p:nvSpPr>
        <p:spPr>
          <a:xfrm>
            <a:off x="7699320" y="4590360"/>
            <a:ext cx="38386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221c4a"/>
                </a:solidFill>
                <a:latin typeface="Poppins"/>
              </a:rPr>
              <a:t>WAF / proxy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Box 18"/>
          <p:cNvSpPr/>
          <p:nvPr/>
        </p:nvSpPr>
        <p:spPr>
          <a:xfrm>
            <a:off x="7699320" y="4956120"/>
            <a:ext cx="3838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Nginx en frontal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TextBox 1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Plusieurs couches : en-têtes, quotas, et un reverse proxy / WAF devant le conteneur.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Rectangle 2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7" name="Picture 2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68" name="TextBox 2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TextBox 2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54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TextBox 2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54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2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3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TRAVAUX PRATIQUES  ·  FIL ROUGE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Durcir l'API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Rounded Rectangle 5"/>
          <p:cNvSpPr/>
          <p:nvPr/>
        </p:nvSpPr>
        <p:spPr>
          <a:xfrm>
            <a:off x="777240" y="1700640"/>
            <a:ext cx="1827000" cy="565200"/>
          </a:xfrm>
          <a:prstGeom prst="roundRect">
            <a:avLst>
              <a:gd name="adj" fmla="val 6000"/>
            </a:avLst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6" name="TextBox 6"/>
          <p:cNvSpPr/>
          <p:nvPr/>
        </p:nvSpPr>
        <p:spPr>
          <a:xfrm>
            <a:off x="777240" y="1848960"/>
            <a:ext cx="18270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TP 14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TextBox 7"/>
          <p:cNvSpPr/>
          <p:nvPr/>
        </p:nvSpPr>
        <p:spPr>
          <a:xfrm>
            <a:off x="2788920" y="1864800"/>
            <a:ext cx="859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500" spc="-1" strike="noStrike">
                <a:solidFill>
                  <a:srgbClr val="221c4a"/>
                </a:solidFill>
                <a:latin typeface="Poppins"/>
              </a:rPr>
              <a:t>Ajouter les protections de production.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Rectangle 8"/>
          <p:cNvSpPr/>
          <p:nvPr/>
        </p:nvSpPr>
        <p:spPr>
          <a:xfrm>
            <a:off x="777240" y="2541960"/>
            <a:ext cx="1090692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9" name="TextBox 9"/>
          <p:cNvSpPr/>
          <p:nvPr/>
        </p:nvSpPr>
        <p:spPr>
          <a:xfrm>
            <a:off x="777240" y="2743200"/>
            <a:ext cx="52102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ÉTAPES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TextBox 10"/>
          <p:cNvSpPr/>
          <p:nvPr/>
        </p:nvSpPr>
        <p:spPr>
          <a:xfrm>
            <a:off x="777240" y="3108960"/>
            <a:ext cx="5484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helmet (en-têtes)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express-rate-limit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option : reverse proxy / WAF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e74b56"/>
                </a:solidFill>
                <a:latin typeface="Poppins"/>
              </a:rPr>
              <a:t>—  </a:t>
            </a:r>
            <a:r>
              <a:rPr b="0" lang="en-US" sz="1400" spc="-1" strike="noStrike">
                <a:solidFill>
                  <a:srgbClr val="221c4a"/>
                </a:solidFill>
                <a:latin typeface="Poppins"/>
              </a:rPr>
              <a:t>vérifier sous charge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Rectangle 11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82" name="Picture 12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083" name="TextBox 13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TextBox 14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55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Box 15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55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7" name="Rectangle 2"/>
          <p:cNvSpPr/>
          <p:nvPr/>
        </p:nvSpPr>
        <p:spPr>
          <a:xfrm>
            <a:off x="502920" y="567000"/>
            <a:ext cx="144360" cy="47376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8" name="TextBox 3"/>
          <p:cNvSpPr/>
          <p:nvPr/>
        </p:nvSpPr>
        <p:spPr>
          <a:xfrm>
            <a:off x="749880" y="502920"/>
            <a:ext cx="95994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100" spc="-1" strike="noStrike">
                <a:solidFill>
                  <a:srgbClr val="e74b56"/>
                </a:solidFill>
                <a:latin typeface="Poppins"/>
              </a:rPr>
              <a:t>RÉCAPITULATIF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TextBox 4"/>
          <p:cNvSpPr/>
          <p:nvPr/>
        </p:nvSpPr>
        <p:spPr>
          <a:xfrm>
            <a:off x="749880" y="731520"/>
            <a:ext cx="10422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2700" spc="-1" strike="noStrike">
                <a:solidFill>
                  <a:srgbClr val="221c4a"/>
                </a:solidFill>
                <a:latin typeface="Poppins"/>
              </a:rPr>
              <a:t>L'architecture finale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Rounded Rectangle 5"/>
          <p:cNvSpPr/>
          <p:nvPr/>
        </p:nvSpPr>
        <p:spPr>
          <a:xfrm>
            <a:off x="640080" y="2743200"/>
            <a:ext cx="1918440" cy="136980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1" name="TextBox 6"/>
          <p:cNvSpPr/>
          <p:nvPr/>
        </p:nvSpPr>
        <p:spPr>
          <a:xfrm>
            <a:off x="640080" y="3229560"/>
            <a:ext cx="19184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221c4a"/>
                </a:solidFill>
                <a:latin typeface="Poppins"/>
              </a:rPr>
              <a:t>Client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TextBox 7"/>
          <p:cNvSpPr/>
          <p:nvPr/>
        </p:nvSpPr>
        <p:spPr>
          <a:xfrm>
            <a:off x="640080" y="3447360"/>
            <a:ext cx="191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app / curl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3" name="Connector 8"/>
          <p:cNvCxnSpPr/>
          <p:nvPr/>
        </p:nvCxnSpPr>
        <p:spPr>
          <a:xfrm>
            <a:off x="2560320" y="3429000"/>
            <a:ext cx="23040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094" name="Rounded Rectangle 9"/>
          <p:cNvSpPr/>
          <p:nvPr/>
        </p:nvSpPr>
        <p:spPr>
          <a:xfrm>
            <a:off x="2788920" y="2743200"/>
            <a:ext cx="2009880" cy="136980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5" name="TextBox 10"/>
          <p:cNvSpPr/>
          <p:nvPr/>
        </p:nvSpPr>
        <p:spPr>
          <a:xfrm>
            <a:off x="2788920" y="3006000"/>
            <a:ext cx="200988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221c4a"/>
                </a:solidFill>
                <a:latin typeface="Poppins"/>
              </a:rPr>
              <a:t>Reverse proxy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221c4a"/>
                </a:solidFill>
                <a:latin typeface="Poppins"/>
              </a:rPr>
              <a:t>/ WAF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Box 11"/>
          <p:cNvSpPr/>
          <p:nvPr/>
        </p:nvSpPr>
        <p:spPr>
          <a:xfrm>
            <a:off x="2788920" y="3447360"/>
            <a:ext cx="2009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Nginx · TLS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7" name="Connector 12"/>
          <p:cNvCxnSpPr/>
          <p:nvPr/>
        </p:nvCxnSpPr>
        <p:spPr>
          <a:xfrm>
            <a:off x="4800600" y="3429000"/>
            <a:ext cx="2761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098" name="Rounded Rectangle 13"/>
          <p:cNvSpPr/>
          <p:nvPr/>
        </p:nvSpPr>
        <p:spPr>
          <a:xfrm>
            <a:off x="5074920" y="2743200"/>
            <a:ext cx="2284200" cy="136980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9" name="TextBox 14"/>
          <p:cNvSpPr/>
          <p:nvPr/>
        </p:nvSpPr>
        <p:spPr>
          <a:xfrm>
            <a:off x="5074920" y="3229560"/>
            <a:ext cx="228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</a:rPr>
              <a:t>Express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TextBox 15"/>
          <p:cNvSpPr/>
          <p:nvPr/>
        </p:nvSpPr>
        <p:spPr>
          <a:xfrm>
            <a:off x="5074920" y="3447360"/>
            <a:ext cx="22842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helmet · rate-limit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JWT · Zod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1" name="Connector 16"/>
          <p:cNvCxnSpPr/>
          <p:nvPr/>
        </p:nvCxnSpPr>
        <p:spPr>
          <a:xfrm>
            <a:off x="7360920" y="3429000"/>
            <a:ext cx="32184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102" name="Rounded Rectangle 17"/>
          <p:cNvSpPr/>
          <p:nvPr/>
        </p:nvSpPr>
        <p:spPr>
          <a:xfrm>
            <a:off x="7680960" y="2743200"/>
            <a:ext cx="1827000" cy="1369800"/>
          </a:xfrm>
          <a:prstGeom prst="roundRect">
            <a:avLst>
              <a:gd name="adj" fmla="val 6000"/>
            </a:avLst>
          </a:prstGeom>
          <a:solidFill>
            <a:srgbClr val="f1f0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3" name="TextBox 18"/>
          <p:cNvSpPr/>
          <p:nvPr/>
        </p:nvSpPr>
        <p:spPr>
          <a:xfrm>
            <a:off x="7680960" y="3229560"/>
            <a:ext cx="18270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221c4a"/>
                </a:solidFill>
                <a:latin typeface="Poppins"/>
              </a:rPr>
              <a:t>Prisma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Box 19"/>
          <p:cNvSpPr/>
          <p:nvPr/>
        </p:nvSpPr>
        <p:spPr>
          <a:xfrm>
            <a:off x="7680960" y="3447360"/>
            <a:ext cx="1827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ORM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5" name="Connector 20"/>
          <p:cNvCxnSpPr/>
          <p:nvPr/>
        </p:nvCxnSpPr>
        <p:spPr>
          <a:xfrm>
            <a:off x="9509760" y="3429000"/>
            <a:ext cx="276120" cy="1800"/>
          </a:xfrm>
          <a:prstGeom prst="straightConnector1">
            <a:avLst/>
          </a:prstGeom>
          <a:ln w="0">
            <a:solidFill>
              <a:srgbClr val="31346d"/>
            </a:solidFill>
            <a:tailEnd len="med" type="triangle" w="med"/>
          </a:ln>
        </p:spPr>
      </p:cxnSp>
      <p:sp>
        <p:nvSpPr>
          <p:cNvPr id="1106" name="Rounded Rectangle 21"/>
          <p:cNvSpPr/>
          <p:nvPr/>
        </p:nvSpPr>
        <p:spPr>
          <a:xfrm>
            <a:off x="9784080" y="2743200"/>
            <a:ext cx="2101320" cy="1369800"/>
          </a:xfrm>
          <a:prstGeom prst="roundRect">
            <a:avLst>
              <a:gd name="adj" fmla="val 6000"/>
            </a:avLst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7" name="TextBox 22"/>
          <p:cNvSpPr/>
          <p:nvPr/>
        </p:nvSpPr>
        <p:spPr>
          <a:xfrm>
            <a:off x="9784080" y="3229560"/>
            <a:ext cx="2101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</a:rPr>
              <a:t>PostgreSQL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TextBox 23"/>
          <p:cNvSpPr/>
          <p:nvPr/>
        </p:nvSpPr>
        <p:spPr>
          <a:xfrm>
            <a:off x="9784080" y="3447360"/>
            <a:ext cx="2101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c9c5e0"/>
                </a:solidFill>
                <a:latin typeface="Poppins"/>
              </a:rPr>
              <a:t>données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Rounded Rectangle 24"/>
          <p:cNvSpPr/>
          <p:nvPr/>
        </p:nvSpPr>
        <p:spPr>
          <a:xfrm>
            <a:off x="5074920" y="4754880"/>
            <a:ext cx="2284200" cy="821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0" name="TextBox 25"/>
          <p:cNvSpPr/>
          <p:nvPr/>
        </p:nvSpPr>
        <p:spPr>
          <a:xfrm>
            <a:off x="5074920" y="4974840"/>
            <a:ext cx="22842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e74b56"/>
                </a:solidFill>
                <a:latin typeface="Poppins"/>
              </a:rPr>
              <a:t>Swagger /docs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TextBox 26"/>
          <p:cNvSpPr/>
          <p:nvPr/>
        </p:nvSpPr>
        <p:spPr>
          <a:xfrm>
            <a:off x="5074920" y="5184720"/>
            <a:ext cx="2284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000" spc="-1" strike="noStrike">
                <a:solidFill>
                  <a:srgbClr val="737373"/>
                </a:solidFill>
                <a:latin typeface="Poppins"/>
              </a:rPr>
              <a:t>contrat OpenAPI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12" name="Connector 27"/>
          <p:cNvCxnSpPr/>
          <p:nvPr/>
        </p:nvCxnSpPr>
        <p:spPr>
          <a:xfrm>
            <a:off x="6217920" y="4114800"/>
            <a:ext cx="1800" cy="641880"/>
          </a:xfrm>
          <a:prstGeom prst="straightConnector1">
            <a:avLst/>
          </a:prstGeom>
          <a:ln w="0">
            <a:solidFill>
              <a:srgbClr val="e74b56"/>
            </a:solidFill>
            <a:prstDash val="dash"/>
            <a:tailEnd len="med" type="triangle" w="med"/>
          </a:ln>
        </p:spPr>
      </p:cxnSp>
      <p:sp>
        <p:nvSpPr>
          <p:cNvPr id="1113" name="TextBox 28"/>
          <p:cNvSpPr/>
          <p:nvPr/>
        </p:nvSpPr>
        <p:spPr>
          <a:xfrm>
            <a:off x="640080" y="5715000"/>
            <a:ext cx="10788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Le tout empaqueté avec Docker Compose (app + postgres).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TextBox 29"/>
          <p:cNvSpPr/>
          <p:nvPr/>
        </p:nvSpPr>
        <p:spPr>
          <a:xfrm>
            <a:off x="777240" y="5906880"/>
            <a:ext cx="1060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250" spc="-1" strike="noStrike">
                <a:solidFill>
                  <a:srgbClr val="737373"/>
                </a:solidFill>
                <a:latin typeface="Poppins"/>
              </a:rPr>
              <a:t>De la requête client à PostgreSQL : tout ce qu'on a construit, durci et documenté.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Rectangle 30"/>
          <p:cNvSpPr/>
          <p:nvPr/>
        </p:nvSpPr>
        <p:spPr>
          <a:xfrm>
            <a:off x="502920" y="6364080"/>
            <a:ext cx="11181240" cy="9000"/>
          </a:xfrm>
          <a:prstGeom prst="rect">
            <a:avLst/>
          </a:prstGeom>
          <a:solidFill>
            <a:srgbClr val="e6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16" name="Picture 31" descr="logo-color.png"/>
          <p:cNvPicPr/>
          <p:nvPr/>
        </p:nvPicPr>
        <p:blipFill>
          <a:blip r:embed="rId1"/>
          <a:stretch/>
        </p:blipFill>
        <p:spPr>
          <a:xfrm>
            <a:off x="502920" y="6455520"/>
            <a:ext cx="866880" cy="191880"/>
          </a:xfrm>
          <a:prstGeom prst="rect">
            <a:avLst/>
          </a:prstGeom>
          <a:ln w="0">
            <a:noFill/>
          </a:ln>
        </p:spPr>
      </p:pic>
      <p:sp>
        <p:nvSpPr>
          <p:cNvPr id="1117" name="TextBox 32"/>
          <p:cNvSpPr/>
          <p:nvPr/>
        </p:nvSpPr>
        <p:spPr>
          <a:xfrm>
            <a:off x="1481400" y="6492240"/>
            <a:ext cx="67647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Node.js  ·  Lot 4 — Développement logiciel  ·  Réf. 4-057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TextBox 33"/>
          <p:cNvSpPr/>
          <p:nvPr/>
        </p:nvSpPr>
        <p:spPr>
          <a:xfrm>
            <a:off x="10241280" y="6492240"/>
            <a:ext cx="14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900" spc="-1" strike="noStrike">
                <a:solidFill>
                  <a:srgbClr val="737373"/>
                </a:solidFill>
                <a:latin typeface="Poppins"/>
              </a:rPr>
              <a:t>56 / 57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TextBox 34"/>
          <p:cNvSpPr/>
          <p:nvPr/>
        </p:nvSpPr>
        <p:spPr>
          <a:xfrm>
            <a:off x="10241280" y="530280"/>
            <a:ext cx="14612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100" spc="-1" strike="noStrike">
                <a:solidFill>
                  <a:srgbClr val="737373"/>
                </a:solidFill>
                <a:latin typeface="Poppins"/>
              </a:rPr>
              <a:t>56 / 57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221c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1" name="Rectangle 2"/>
          <p:cNvSpPr/>
          <p:nvPr/>
        </p:nvSpPr>
        <p:spPr>
          <a:xfrm>
            <a:off x="0" y="6656760"/>
            <a:ext cx="12189960" cy="199440"/>
          </a:xfrm>
          <a:prstGeom prst="rect">
            <a:avLst/>
          </a:prstGeom>
          <a:solidFill>
            <a:srgbClr val="e74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22" name="Picture 3" descr="logo-blanc.png"/>
          <p:cNvPicPr/>
          <p:nvPr/>
        </p:nvPicPr>
        <p:blipFill>
          <a:blip r:embed="rId1"/>
          <a:stretch/>
        </p:blipFill>
        <p:spPr>
          <a:xfrm>
            <a:off x="822960" y="960120"/>
            <a:ext cx="2741400" cy="612720"/>
          </a:xfrm>
          <a:prstGeom prst="rect">
            <a:avLst/>
          </a:prstGeom>
          <a:ln w="0">
            <a:noFill/>
          </a:ln>
        </p:spPr>
      </p:pic>
      <p:sp>
        <p:nvSpPr>
          <p:cNvPr id="1123" name="TextBox 4"/>
          <p:cNvSpPr/>
          <p:nvPr/>
        </p:nvSpPr>
        <p:spPr>
          <a:xfrm>
            <a:off x="786240" y="2834640"/>
            <a:ext cx="10605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5200" spc="-1" strike="noStrike">
                <a:solidFill>
                  <a:srgbClr val="ffffff"/>
                </a:solidFill>
                <a:latin typeface="Poppins"/>
              </a:rPr>
              <a:t>Merci !</a:t>
            </a:r>
            <a:endParaRPr b="0" lang="fr-F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TextBox 5"/>
          <p:cNvSpPr/>
          <p:nvPr/>
        </p:nvSpPr>
        <p:spPr>
          <a:xfrm>
            <a:off x="822960" y="3977640"/>
            <a:ext cx="104223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0" lang="en-US" sz="1700" spc="-1" strike="noStrike">
                <a:solidFill>
                  <a:srgbClr val="d7d4ea"/>
                </a:solidFill>
                <a:latin typeface="Poppins"/>
              </a:rPr>
              <a:t>Évaluation de la formation, certificat de réalisation et ressources mises à disposition en ligne.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TextBox 6"/>
          <p:cNvSpPr/>
          <p:nvPr/>
        </p:nvSpPr>
        <p:spPr>
          <a:xfrm>
            <a:off x="822960" y="5074920"/>
            <a:ext cx="100566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c9c5e0"/>
                </a:solidFill>
                <a:latin typeface="Poppins"/>
              </a:rPr>
              <a:t>contact@ascent-formation.fr  ·  +33 9 75 75 37 81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Application>LibreOffice/7.6.2.1$Windows_X86_64 LibreOffice_project/56f7684011345957bbf33a7ee678afaf4d2ba333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2026-06-15T02:40:36Z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